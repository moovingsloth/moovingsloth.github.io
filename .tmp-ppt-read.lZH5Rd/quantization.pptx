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311" r:id="rId6"/>
    <p:sldId id="271" r:id="rId7"/>
    <p:sldId id="267" r:id="rId8"/>
    <p:sldId id="275" r:id="rId9"/>
    <p:sldId id="273" r:id="rId10"/>
    <p:sldId id="276" r:id="rId11"/>
    <p:sldId id="312" r:id="rId12"/>
    <p:sldId id="329" r:id="rId13"/>
    <p:sldId id="268" r:id="rId14"/>
    <p:sldId id="269" r:id="rId15"/>
    <p:sldId id="270" r:id="rId16"/>
    <p:sldId id="280" r:id="rId17"/>
    <p:sldId id="296" r:id="rId18"/>
    <p:sldId id="313" r:id="rId19"/>
    <p:sldId id="310" r:id="rId20"/>
    <p:sldId id="297" r:id="rId21"/>
    <p:sldId id="298" r:id="rId22"/>
    <p:sldId id="299" r:id="rId23"/>
  </p:sldIdLst>
  <p:sldSz cx="9144000" cy="5143500" type="screen16x9"/>
  <p:notesSz cx="6858000" cy="9144000"/>
  <p:embeddedFontLst>
    <p:embeddedFont>
      <p:font typeface="Malgun Gothic" panose="020B0503020000020004" pitchFamily="34" charset="-127"/>
      <p:regular r:id="rId25"/>
      <p:bold r:id="rId26"/>
    </p:embeddedFont>
    <p:embeddedFont>
      <p:font typeface="Cambria Math" panose="02040503050406030204" pitchFamily="18" charset="0"/>
      <p:regular r:id="rId27"/>
    </p:embeddedFont>
    <p:embeddedFont>
      <p:font typeface="Consolas" panose="020B0609020204030204" pitchFamily="49" charset="0"/>
      <p:regular r:id="rId28"/>
      <p:bold r:id="rId29"/>
      <p:italic r:id="rId30"/>
      <p:boldItalic r:id="rId31"/>
    </p:embeddedFont>
    <p:embeddedFont>
      <p:font typeface="Lato" panose="020F0502020204030203" pitchFamily="3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5" roundtripDataSignature="AMtx7mh/2b5ZpUoqVcU9hH2xWCQMFtGt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72ADC6-70A9-F947-9F1A-BF25E763E9DC}" v="187" dt="2026-08-14T04:41:04.030"/>
  </p1510:revLst>
</p1510:revInfo>
</file>

<file path=ppt/tableStyles.xml><?xml version="1.0" encoding="utf-8"?>
<a:tblStyleLst xmlns:a="http://schemas.openxmlformats.org/drawingml/2006/main" def="{F0EDFCD5-A1EA-4B4F-A2FB-9BF5B3A5057D}">
  <a:tblStyle styleId="{F0EDFCD5-A1EA-4B4F-A2FB-9BF5B3A5057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429"/>
    <p:restoredTop sz="77569"/>
  </p:normalViewPr>
  <p:slideViewPr>
    <p:cSldViewPr snapToGrid="0">
      <p:cViewPr varScale="1">
        <p:scale>
          <a:sx n="112" d="100"/>
          <a:sy n="112" d="100"/>
        </p:scale>
        <p:origin x="184" y="4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7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65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6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5" name="Google Shape;6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4" name="Google Shape;7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3" name="Google Shape;83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5fa42d7dc_0_1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0" name="Google Shape;90;g3f5fa42d7dc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C7D89D0C-8897-0B52-DE2B-0EFDD1896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:notes">
            <a:extLst>
              <a:ext uri="{FF2B5EF4-FFF2-40B4-BE49-F238E27FC236}">
                <a16:creationId xmlns:a16="http://schemas.microsoft.com/office/drawing/2014/main" id="{E160CFC2-E316-980D-7173-21ED2F94A0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2:notes">
            <a:extLst>
              <a:ext uri="{FF2B5EF4-FFF2-40B4-BE49-F238E27FC236}">
                <a16:creationId xmlns:a16="http://schemas.microsoft.com/office/drawing/2014/main" id="{74761D0C-AA8B-879E-E35A-4D95A41F8B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74" name="Google Shape;74;p2:notes">
            <a:extLst>
              <a:ext uri="{FF2B5EF4-FFF2-40B4-BE49-F238E27FC236}">
                <a16:creationId xmlns:a16="http://schemas.microsoft.com/office/drawing/2014/main" id="{C4C2F8DD-7B0E-59DE-2FCF-6881285C581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24032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5fa42d7dc_0_5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g3f5fa42d7dc_0_5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</a:pPr>
            <a:endParaRPr/>
          </a:p>
        </p:txBody>
      </p:sp>
      <p:sp>
        <p:nvSpPr>
          <p:cNvPr id="215" name="Google Shape;215;g3f5fa42d7dc_0_5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29565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5fa42d7dc_0_5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g3f5fa42d7dc_0_5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</a:pPr>
            <a:endParaRPr dirty="0"/>
          </a:p>
        </p:txBody>
      </p:sp>
      <p:sp>
        <p:nvSpPr>
          <p:cNvPr id="173" name="Google Shape;173;g3f5fa42d7dc_0_50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f61e6a68b5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g3f61e6a68b5_0_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0" lvl="0" indent="-127000">
              <a:spcBef>
                <a:spcPts val="0"/>
              </a:spcBef>
              <a:buSzPts val="1800"/>
            </a:pPr>
            <a:r>
              <a:rPr lang="en-US" altLang="ko-KR" sz="1100" b="1" dirty="0" err="1">
                <a:solidFill>
                  <a:schemeClr val="tx1"/>
                </a:solidFill>
              </a:rPr>
              <a:t>outlier이</a:t>
            </a:r>
            <a:r>
              <a:rPr lang="en-US" altLang="ko-KR" sz="1100" b="1" dirty="0">
                <a:solidFill>
                  <a:schemeClr val="tx1"/>
                </a:solidFill>
              </a:rPr>
              <a:t> </a:t>
            </a:r>
            <a:r>
              <a:rPr lang="en-US" altLang="ko-KR" sz="1100" b="1" dirty="0" err="1">
                <a:solidFill>
                  <a:schemeClr val="tx1"/>
                </a:solidFill>
              </a:rPr>
              <a:t>weigh에</a:t>
            </a:r>
            <a:r>
              <a:rPr lang="en-US" altLang="ko-KR" sz="1100" b="1" dirty="0">
                <a:solidFill>
                  <a:schemeClr val="tx1"/>
                </a:solidFill>
              </a:rPr>
              <a:t> </a:t>
            </a:r>
            <a:r>
              <a:rPr lang="en-US" altLang="ko-KR" sz="1100" b="1" dirty="0" err="1">
                <a:solidFill>
                  <a:schemeClr val="tx1"/>
                </a:solidFill>
              </a:rPr>
              <a:t>전이한</a:t>
            </a:r>
            <a:r>
              <a:rPr lang="en-US" altLang="ko-KR" sz="1100" b="1" dirty="0">
                <a:solidFill>
                  <a:schemeClr val="tx1"/>
                </a:solidFill>
              </a:rPr>
              <a:t> </a:t>
            </a:r>
            <a:r>
              <a:rPr lang="en-US" altLang="ko-KR" sz="1100" b="1" dirty="0" err="1">
                <a:solidFill>
                  <a:schemeClr val="tx1"/>
                </a:solidFill>
              </a:rPr>
              <a:t>것에</a:t>
            </a:r>
            <a:r>
              <a:rPr lang="en-US" altLang="ko-KR" sz="1100" b="1" dirty="0">
                <a:solidFill>
                  <a:schemeClr val="tx1"/>
                </a:solidFill>
              </a:rPr>
              <a:t> </a:t>
            </a:r>
            <a:r>
              <a:rPr lang="en-US" altLang="ko-KR" sz="1100" b="1" dirty="0" err="1">
                <a:solidFill>
                  <a:schemeClr val="tx1"/>
                </a:solidFill>
              </a:rPr>
              <a:t>불과</a:t>
            </a:r>
            <a:r>
              <a:rPr lang="en-US" altLang="ko-KR" sz="1100" b="1" dirty="0">
                <a:solidFill>
                  <a:schemeClr val="tx1"/>
                </a:solidFill>
              </a:rPr>
              <a:t>.  Outlier</a:t>
            </a:r>
            <a:r>
              <a:rPr lang="ko-KR" altLang="en-US" sz="1100" b="1" dirty="0">
                <a:solidFill>
                  <a:schemeClr val="tx1"/>
                </a:solidFill>
              </a:rPr>
              <a:t>이 근본적으로 해결되지 않음</a:t>
            </a:r>
            <a:r>
              <a:rPr lang="en-US" altLang="ko-KR" sz="1100" b="1" dirty="0">
                <a:solidFill>
                  <a:schemeClr val="tx1"/>
                </a:solidFill>
              </a:rPr>
              <a:t>. </a:t>
            </a:r>
            <a:endParaRPr dirty="0"/>
          </a:p>
        </p:txBody>
      </p:sp>
      <p:sp>
        <p:nvSpPr>
          <p:cNvPr id="251" name="Google Shape;251;g3f61e6a68b5_0_6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61e6a68b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2" name="Google Shape;232;g3f61e6a68b5_0_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tabLst/>
              <a:defRPr/>
            </a:pPr>
            <a:r>
              <a:rPr lang="en-US" altLang="ko" sz="1100" b="1" dirty="0">
                <a:solidFill>
                  <a:schemeClr val="tx1"/>
                </a:solidFill>
              </a:rPr>
              <a:t>skipping quantize salient weights </a:t>
            </a:r>
            <a:r>
              <a:rPr lang="en-US" altLang="ko-KR" sz="1100" b="1" dirty="0">
                <a:solidFill>
                  <a:schemeClr val="tx1"/>
                </a:solidFill>
              </a:rPr>
              <a:t>– implementation is hard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tabLst/>
              <a:defRPr/>
            </a:pPr>
            <a:r>
              <a:rPr lang="en-US" altLang="ko" sz="1100" dirty="0">
                <a:solidFill>
                  <a:schemeClr val="tx1"/>
                </a:solidFill>
              </a:rPr>
              <a:t>(if ∆ = max(|w| is changed)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tabLst/>
              <a:defRPr/>
            </a:pPr>
            <a:endParaRPr lang="en-US" altLang="ko-KR" sz="1100" b="1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tabLst/>
              <a:defRPr/>
            </a:pPr>
            <a:r>
              <a:rPr lang="en-US" altLang="ko-KR" sz="1100" b="1" dirty="0">
                <a:solidFill>
                  <a:schemeClr val="tx1"/>
                </a:solidFill>
              </a:rPr>
              <a:t>, can not migrate to KV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</a:pPr>
            <a:endParaRPr dirty="0"/>
          </a:p>
        </p:txBody>
      </p:sp>
      <p:sp>
        <p:nvSpPr>
          <p:cNvPr id="233" name="Google Shape;233;g3f61e6a68b5_0_6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63937a9f2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g3f63937a9f2_0_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0" lvl="0" indent="-127000">
              <a:spcBef>
                <a:spcPts val="0"/>
              </a:spcBef>
              <a:buSzPts val="1800"/>
            </a:pPr>
            <a:r>
              <a:rPr lang="en-US" altLang="ko-KR" sz="1800" b="1" dirty="0"/>
              <a:t>Method: </a:t>
            </a:r>
            <a:r>
              <a:rPr lang="en-US" altLang="ko-KR" sz="1800" dirty="0"/>
              <a:t>Hadamard </a:t>
            </a:r>
            <a:r>
              <a:rPr lang="en-US" altLang="ko-KR" sz="1800" dirty="0">
                <a:solidFill>
                  <a:schemeClr val="tx2"/>
                </a:solidFill>
              </a:rPr>
              <a:t>rotation</a:t>
            </a:r>
            <a:r>
              <a:rPr lang="en-US" altLang="ko-KR" sz="1800" dirty="0"/>
              <a:t> </a:t>
            </a:r>
          </a:p>
          <a:p>
            <a:pPr marL="584200" lvl="1" indent="-127000">
              <a:spcBef>
                <a:spcPts val="0"/>
              </a:spcBef>
              <a:buSzPts val="1800"/>
            </a:pPr>
            <a:r>
              <a:rPr lang="en-US" altLang="ko-KR" sz="1700" dirty="0"/>
              <a:t>destroys the channel-aligned outlier structure itself</a:t>
            </a:r>
          </a:p>
          <a:p>
            <a:pPr marL="584200" lvl="1" indent="-127000">
              <a:spcBef>
                <a:spcPts val="0"/>
              </a:spcBef>
              <a:buSzPts val="1800"/>
            </a:pPr>
            <a:endParaRPr lang="en-US" altLang="ko" sz="1700" dirty="0">
              <a:solidFill>
                <a:schemeClr val="lt2"/>
              </a:solidFill>
            </a:endParaRPr>
          </a:p>
          <a:p>
            <a:pPr marL="127000" indent="-127000">
              <a:spcBef>
                <a:spcPts val="0"/>
              </a:spcBef>
              <a:buSzPts val="1800"/>
            </a:pPr>
            <a:r>
              <a:rPr lang="en-US" altLang="ko-KR" sz="1800" dirty="0"/>
              <a:t>Computational invariance: rotations absorbed into weights, no runtime cost</a:t>
            </a:r>
          </a:p>
          <a:p>
            <a:pPr marL="127000" indent="-127000">
              <a:spcBef>
                <a:spcPts val="0"/>
              </a:spcBef>
              <a:buSzPts val="1800"/>
            </a:pPr>
            <a:r>
              <a:rPr lang="en-US" altLang="ko-KR" sz="1800" dirty="0" err="1"/>
              <a:t>SpinQuant</a:t>
            </a:r>
            <a:r>
              <a:rPr lang="en-US" altLang="ko-KR" sz="1800" dirty="0"/>
              <a:t> learns the rotation on the Stiefel manifold instead of fixing it </a:t>
            </a:r>
          </a:p>
          <a:p>
            <a:pPr marL="127000" indent="-127000">
              <a:spcBef>
                <a:spcPts val="0"/>
              </a:spcBef>
              <a:buSzPts val="1800"/>
            </a:pPr>
            <a:r>
              <a:rPr lang="en-US" altLang="ko-KR" sz="1800" b="1" dirty="0"/>
              <a:t>Climax of Axis 1</a:t>
            </a:r>
            <a:r>
              <a:rPr lang="en-US" altLang="ko-KR" sz="1800" dirty="0"/>
              <a:t>: the previous three </a:t>
            </a:r>
            <a:r>
              <a:rPr lang="en-US" altLang="ko-KR" sz="1800" i="1" dirty="0"/>
              <a:t>move</a:t>
            </a:r>
            <a:r>
              <a:rPr lang="en-US" altLang="ko-KR" sz="1800" dirty="0"/>
              <a:t> outliers; this removes the coordinate system in which they existed</a:t>
            </a:r>
            <a:endParaRPr lang="en-US" altLang="ko" sz="1800" dirty="0">
              <a:solidFill>
                <a:schemeClr val="lt2"/>
              </a:solidFill>
            </a:endParaRPr>
          </a:p>
          <a:p>
            <a:pPr marL="127000" lvl="0" indent="-127000">
              <a:spcBef>
                <a:spcPts val="0"/>
              </a:spcBef>
              <a:buSzPts val="1800"/>
            </a:pPr>
            <a:r>
              <a:rPr lang="ko-KR" altLang="en-US" sz="1800" dirty="0"/>
              <a:t>가중치는 </a:t>
            </a:r>
            <a:r>
              <a:rPr lang="en-US" altLang="ko-KR" sz="1800" dirty="0"/>
              <a:t>GPTQ</a:t>
            </a:r>
            <a:r>
              <a:rPr lang="ko-KR" altLang="en-US" sz="1800" dirty="0"/>
              <a:t>로 양자화</a:t>
            </a:r>
            <a:endParaRPr lang="ko-KR" altLang="en-US" sz="180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</a:pPr>
            <a:r>
              <a:rPr lang="en-US" dirty="0" err="1"/>
              <a:t>QuaRot</a:t>
            </a: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</a:pPr>
            <a:r>
              <a:rPr lang="en-US" dirty="0" err="1"/>
              <a:t>Hardmard</a:t>
            </a:r>
            <a:r>
              <a:rPr lang="ko-KR" altLang="en-US" dirty="0"/>
              <a:t>는 </a:t>
            </a:r>
            <a:r>
              <a:rPr lang="en-US" altLang="ko-KR" dirty="0"/>
              <a:t>+1, -1</a:t>
            </a:r>
            <a:r>
              <a:rPr lang="ko-KR" altLang="en-US" dirty="0"/>
              <a:t>로만 이루어져 있고</a:t>
            </a:r>
            <a:r>
              <a:rPr lang="en-US" altLang="ko-KR" dirty="0"/>
              <a:t>, </a:t>
            </a:r>
            <a:r>
              <a:rPr lang="ko-KR" altLang="en-US" dirty="0"/>
              <a:t>행들이 </a:t>
            </a:r>
            <a:r>
              <a:rPr lang="en-US" altLang="ko-KR" dirty="0"/>
              <a:t>orthogonal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</a:pPr>
            <a:r>
              <a:rPr lang="en-US" dirty="0"/>
              <a:t>	</a:t>
            </a:r>
            <a:r>
              <a:rPr lang="en-US" dirty="0" err="1"/>
              <a:t>고정되어</a:t>
            </a:r>
            <a:r>
              <a:rPr lang="en-US" dirty="0"/>
              <a:t> </a:t>
            </a:r>
            <a:r>
              <a:rPr lang="en-US" dirty="0" err="1"/>
              <a:t>있기</a:t>
            </a:r>
            <a:r>
              <a:rPr lang="en-US" dirty="0"/>
              <a:t> </a:t>
            </a:r>
            <a:r>
              <a:rPr lang="en-US" dirty="0" err="1"/>
              <a:t>때문에</a:t>
            </a:r>
            <a:r>
              <a:rPr lang="en-US" altLang="ko-KR" dirty="0"/>
              <a:t>, </a:t>
            </a:r>
            <a:r>
              <a:rPr lang="ko-KR" altLang="en-US" dirty="0"/>
              <a:t>이상치가 완화되지 않을 수도 있음</a:t>
            </a:r>
            <a:r>
              <a:rPr lang="en-US" altLang="ko-KR" dirty="0"/>
              <a:t>.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</a:pPr>
            <a:r>
              <a:rPr lang="en-US" dirty="0" err="1"/>
              <a:t>SpinQuant</a:t>
            </a: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</a:pPr>
            <a:r>
              <a:rPr lang="en-US" dirty="0"/>
              <a:t>Weight의 </a:t>
            </a:r>
            <a:r>
              <a:rPr lang="en-US" dirty="0" err="1"/>
              <a:t>특징별로</a:t>
            </a:r>
            <a:r>
              <a:rPr lang="en-US" dirty="0"/>
              <a:t> </a:t>
            </a:r>
            <a:r>
              <a:rPr lang="en-US" dirty="0" err="1"/>
              <a:t>서로</a:t>
            </a:r>
            <a:r>
              <a:rPr lang="en-US" dirty="0"/>
              <a:t> </a:t>
            </a:r>
            <a:r>
              <a:rPr lang="en-US" dirty="0" err="1"/>
              <a:t>다른</a:t>
            </a:r>
            <a:r>
              <a:rPr lang="en-US" dirty="0"/>
              <a:t> </a:t>
            </a:r>
            <a:r>
              <a:rPr lang="en-US" altLang="ko-KR" dirty="0"/>
              <a:t>rotation matrix</a:t>
            </a:r>
            <a:r>
              <a:rPr lang="ko-KR" altLang="en-US" dirty="0" err="1"/>
              <a:t>를</a:t>
            </a:r>
            <a:r>
              <a:rPr lang="ko-KR" altLang="en-US" dirty="0"/>
              <a:t> 적용</a:t>
            </a:r>
            <a:r>
              <a:rPr lang="en-US" altLang="ko-KR" dirty="0"/>
              <a:t>.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</a:pPr>
            <a:r>
              <a:rPr lang="en-US" altLang="ko-KR" dirty="0"/>
              <a:t>Calibration data</a:t>
            </a:r>
            <a:r>
              <a:rPr lang="ko-KR" altLang="en-US" dirty="0" err="1"/>
              <a:t>에</a:t>
            </a:r>
            <a:r>
              <a:rPr lang="ko-KR" altLang="en-US" dirty="0"/>
              <a:t> 맞게 학습</a:t>
            </a:r>
            <a:r>
              <a:rPr lang="en-US" altLang="ko-KR" dirty="0"/>
              <a:t>. </a:t>
            </a:r>
            <a:r>
              <a:rPr lang="ko-KR" altLang="en-US" dirty="0"/>
              <a:t>조건</a:t>
            </a:r>
            <a:r>
              <a:rPr lang="en-US" altLang="ko-KR" dirty="0"/>
              <a:t>: </a:t>
            </a:r>
            <a:r>
              <a:rPr lang="ko-KR" altLang="en-US" dirty="0"/>
              <a:t>학습 중에도 </a:t>
            </a:r>
            <a:r>
              <a:rPr lang="en-US" altLang="ko-KR" dirty="0"/>
              <a:t>orthogonal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</a:pPr>
            <a:r>
              <a:rPr lang="en-US" dirty="0" err="1"/>
              <a:t>문제</a:t>
            </a:r>
            <a:r>
              <a:rPr lang="en-US" altLang="ko-KR" dirty="0"/>
              <a:t>: gradient descent </a:t>
            </a:r>
            <a:r>
              <a:rPr lang="ko-KR" altLang="en-US" dirty="0"/>
              <a:t>과정에서 </a:t>
            </a:r>
            <a:r>
              <a:rPr lang="en-US" altLang="ko-KR" dirty="0"/>
              <a:t>orthogonal </a:t>
            </a:r>
            <a:r>
              <a:rPr lang="ko-KR" altLang="en-US" dirty="0"/>
              <a:t>깨짐</a:t>
            </a:r>
            <a:r>
              <a:rPr lang="en-US" altLang="ko-KR" dirty="0"/>
              <a:t>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</a:pPr>
            <a:r>
              <a:rPr lang="en-US" dirty="0" err="1"/>
              <a:t>해결</a:t>
            </a:r>
            <a:r>
              <a:rPr lang="en-US" altLang="ko-KR" dirty="0"/>
              <a:t>: </a:t>
            </a:r>
            <a:r>
              <a:rPr lang="en-US" altLang="ko-KR" dirty="0" err="1"/>
              <a:t>CaleySGD</a:t>
            </a:r>
            <a:r>
              <a:rPr lang="ko-KR" altLang="en-US" dirty="0"/>
              <a:t>로 학습</a:t>
            </a:r>
            <a:r>
              <a:rPr lang="en-US" altLang="ko-KR" dirty="0"/>
              <a:t>.: </a:t>
            </a:r>
            <a:r>
              <a:rPr lang="ko-KR" altLang="en-US" dirty="0"/>
              <a:t>원 위에서만 움직이도록</a:t>
            </a:r>
            <a:r>
              <a:rPr lang="en-US" altLang="ko-KR" dirty="0"/>
              <a:t>. (</a:t>
            </a:r>
            <a:r>
              <a:rPr lang="ko-KR" altLang="en-US" dirty="0"/>
              <a:t>고차원에서 </a:t>
            </a:r>
            <a:r>
              <a:rPr lang="en-US" altLang="ko-KR" dirty="0"/>
              <a:t>Stiefel manifold)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</a:pPr>
            <a:endParaRPr lang="en-US" dirty="0"/>
          </a:p>
          <a:p>
            <a:pPr marL="127000" indent="-127000">
              <a:spcBef>
                <a:spcPts val="0"/>
              </a:spcBef>
              <a:buSzPts val="1800"/>
            </a:pPr>
            <a:r>
              <a:rPr lang="en-US" altLang="ko-KR" sz="1300" dirty="0"/>
              <a:t>Details</a:t>
            </a:r>
          </a:p>
          <a:p>
            <a:pPr marL="584200" lvl="1" indent="-127000">
              <a:spcBef>
                <a:spcPts val="0"/>
              </a:spcBef>
              <a:buSzPts val="1800"/>
            </a:pPr>
            <a:r>
              <a:rPr lang="ko-KR" altLang="ko-KR" sz="1200" dirty="0" err="1"/>
              <a:t>Computational</a:t>
            </a:r>
            <a:r>
              <a:rPr lang="ko-KR" altLang="ko-KR" sz="1200" dirty="0"/>
              <a:t> </a:t>
            </a:r>
            <a:r>
              <a:rPr lang="ko-KR" altLang="ko-KR" sz="1200" dirty="0" err="1"/>
              <a:t>invariance</a:t>
            </a:r>
            <a:r>
              <a:rPr lang="ko-KR" altLang="ko-KR" sz="1200" dirty="0"/>
              <a:t>: </a:t>
            </a:r>
            <a:r>
              <a:rPr lang="ko-KR" altLang="ko-KR" sz="1200" dirty="0" err="1"/>
              <a:t>rotations</a:t>
            </a:r>
            <a:r>
              <a:rPr lang="ko-KR" altLang="ko-KR" sz="1200" dirty="0"/>
              <a:t> </a:t>
            </a:r>
            <a:r>
              <a:rPr lang="ko-KR" altLang="ko-KR" sz="1200" dirty="0" err="1"/>
              <a:t>are</a:t>
            </a:r>
            <a:r>
              <a:rPr lang="ko-KR" altLang="ko-KR" sz="1200" dirty="0"/>
              <a:t> </a:t>
            </a:r>
            <a:r>
              <a:rPr lang="ko-KR" altLang="ko-KR" sz="1200" dirty="0" err="1"/>
              <a:t>absorbed</a:t>
            </a:r>
            <a:r>
              <a:rPr lang="ko-KR" altLang="ko-KR" sz="1200" dirty="0"/>
              <a:t> </a:t>
            </a:r>
            <a:r>
              <a:rPr lang="ko-KR" altLang="ko-KR" sz="1200" dirty="0" err="1"/>
              <a:t>into</a:t>
            </a:r>
            <a:r>
              <a:rPr lang="ko-KR" altLang="ko-KR" sz="1200" dirty="0"/>
              <a:t> </a:t>
            </a:r>
            <a:r>
              <a:rPr lang="ko-KR" altLang="ko-KR" sz="1200" dirty="0" err="1"/>
              <a:t>the</a:t>
            </a:r>
            <a:r>
              <a:rPr lang="ko-KR" altLang="ko-KR" sz="1200" dirty="0"/>
              <a:t> </a:t>
            </a:r>
            <a:r>
              <a:rPr lang="ko-KR" altLang="ko-KR" sz="1200" dirty="0" err="1"/>
              <a:t>weights</a:t>
            </a:r>
            <a:r>
              <a:rPr lang="ko-KR" altLang="ko-KR" sz="1200" dirty="0"/>
              <a:t>, </a:t>
            </a:r>
            <a:r>
              <a:rPr lang="ko-KR" altLang="ko-KR" sz="1200" dirty="0" err="1"/>
              <a:t>introducing</a:t>
            </a:r>
            <a:r>
              <a:rPr lang="ko-KR" altLang="ko-KR" sz="1200" dirty="0"/>
              <a:t> </a:t>
            </a:r>
            <a:r>
              <a:rPr lang="ko-KR" altLang="ko-KR" sz="1200" dirty="0" err="1">
                <a:solidFill>
                  <a:schemeClr val="tx2"/>
                </a:solidFill>
              </a:rPr>
              <a:t>no</a:t>
            </a:r>
            <a:r>
              <a:rPr lang="ko-KR" altLang="ko-KR" sz="1200" dirty="0">
                <a:solidFill>
                  <a:schemeClr val="tx2"/>
                </a:solidFill>
              </a:rPr>
              <a:t> </a:t>
            </a:r>
            <a:r>
              <a:rPr lang="ko-KR" altLang="ko-KR" sz="1200" dirty="0" err="1">
                <a:solidFill>
                  <a:schemeClr val="tx2"/>
                </a:solidFill>
              </a:rPr>
              <a:t>runtime</a:t>
            </a:r>
            <a:r>
              <a:rPr lang="ko-KR" altLang="ko-KR" sz="1200" dirty="0">
                <a:solidFill>
                  <a:schemeClr val="tx2"/>
                </a:solidFill>
              </a:rPr>
              <a:t> </a:t>
            </a:r>
            <a:r>
              <a:rPr lang="ko-KR" altLang="ko-KR" sz="1200" dirty="0" err="1">
                <a:solidFill>
                  <a:schemeClr val="tx2"/>
                </a:solidFill>
              </a:rPr>
              <a:t>overhead</a:t>
            </a:r>
            <a:r>
              <a:rPr lang="ko-KR" altLang="ko-KR" sz="1200" dirty="0"/>
              <a:t>.</a:t>
            </a:r>
          </a:p>
          <a:p>
            <a:pPr marL="584200" lvl="1" indent="-127000">
              <a:spcBef>
                <a:spcPts val="0"/>
              </a:spcBef>
              <a:buSzPts val="1800"/>
            </a:pPr>
            <a:r>
              <a:rPr lang="ko-KR" altLang="ko-KR" sz="1200" dirty="0" err="1"/>
              <a:t>Weight</a:t>
            </a:r>
            <a:r>
              <a:rPr lang="ko-KR" altLang="ko-KR" sz="1200" dirty="0"/>
              <a:t> </a:t>
            </a:r>
            <a:r>
              <a:rPr lang="ko-KR" altLang="ko-KR" sz="1200" dirty="0" err="1"/>
              <a:t>quantization</a:t>
            </a:r>
            <a:r>
              <a:rPr lang="ko-KR" altLang="ko-KR" sz="1200" dirty="0"/>
              <a:t> </a:t>
            </a:r>
            <a:r>
              <a:rPr lang="ko-KR" altLang="ko-KR" sz="1200" dirty="0" err="1"/>
              <a:t>is</a:t>
            </a:r>
            <a:r>
              <a:rPr lang="ko-KR" altLang="ko-KR" sz="1200" dirty="0"/>
              <a:t> </a:t>
            </a:r>
            <a:r>
              <a:rPr lang="ko-KR" altLang="ko-KR" sz="1200" dirty="0" err="1"/>
              <a:t>performed</a:t>
            </a:r>
            <a:r>
              <a:rPr lang="ko-KR" altLang="ko-KR" sz="1200" dirty="0"/>
              <a:t> </a:t>
            </a:r>
            <a:r>
              <a:rPr lang="ko-KR" altLang="ko-KR" sz="1200" dirty="0" err="1"/>
              <a:t>using</a:t>
            </a:r>
            <a:r>
              <a:rPr lang="ko-KR" altLang="ko-KR" sz="1200" dirty="0"/>
              <a:t> GPTQ</a:t>
            </a:r>
            <a:endParaRPr lang="en-US" altLang="ko-KR" sz="1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</a:pPr>
            <a:endParaRPr dirty="0"/>
          </a:p>
        </p:txBody>
      </p:sp>
      <p:sp>
        <p:nvSpPr>
          <p:cNvPr id="260" name="Google Shape;260;g3f63937a9f2_0_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94504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8E4C6A96-8CE0-6692-35D1-D05C27F5A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63937a9f2_0_31:notes">
            <a:extLst>
              <a:ext uri="{FF2B5EF4-FFF2-40B4-BE49-F238E27FC236}">
                <a16:creationId xmlns:a16="http://schemas.microsoft.com/office/drawing/2014/main" id="{5833BD45-F005-E2AE-309F-DF21F13C42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g3f63937a9f2_0_31:notes">
            <a:extLst>
              <a:ext uri="{FF2B5EF4-FFF2-40B4-BE49-F238E27FC236}">
                <a16:creationId xmlns:a16="http://schemas.microsoft.com/office/drawing/2014/main" id="{02BA5830-5C02-4824-CCC7-BD30990EC6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0B2742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Key: approximately zero-centered after </a:t>
            </a:r>
            <a:r>
              <a:rPr kumimoji="0" lang="en-US" altLang="ko-KR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B2742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RMSNorm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0B2742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/</a:t>
            </a:r>
            <a:r>
              <a:rPr kumimoji="0" lang="en-US" altLang="ko-KR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B2742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LayerNorm</a:t>
            </a:r>
            <a:endParaRPr dirty="0"/>
          </a:p>
        </p:txBody>
      </p:sp>
      <p:sp>
        <p:nvSpPr>
          <p:cNvPr id="260" name="Google Shape;260;g3f63937a9f2_0_31:notes">
            <a:extLst>
              <a:ext uri="{FF2B5EF4-FFF2-40B4-BE49-F238E27FC236}">
                <a16:creationId xmlns:a16="http://schemas.microsoft.com/office/drawing/2014/main" id="{04AEC8EA-673B-EC56-F3C4-1153EB36283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91104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CFE936F4-BEE5-8A69-1D93-B2416608D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:notes">
            <a:extLst>
              <a:ext uri="{FF2B5EF4-FFF2-40B4-BE49-F238E27FC236}">
                <a16:creationId xmlns:a16="http://schemas.microsoft.com/office/drawing/2014/main" id="{33B2FAF1-D81B-EBFC-13EF-8B5C9AB2ED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2:notes">
            <a:extLst>
              <a:ext uri="{FF2B5EF4-FFF2-40B4-BE49-F238E27FC236}">
                <a16:creationId xmlns:a16="http://schemas.microsoft.com/office/drawing/2014/main" id="{701CF7FC-10EB-5B22-FCF9-A6128BFF16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Outlier</a:t>
            </a:r>
            <a:r>
              <a:rPr lang="ko-KR" altLang="en-US" dirty="0"/>
              <a:t>을 제한시키는 단위</a:t>
            </a:r>
            <a:r>
              <a:rPr lang="en-US" altLang="ko-KR" dirty="0"/>
              <a:t>. </a:t>
            </a:r>
            <a:r>
              <a:rPr lang="ko-KR" altLang="en-US" dirty="0"/>
              <a:t>예를 들면 </a:t>
            </a:r>
            <a:r>
              <a:rPr lang="ko-KR" altLang="ko-KR" dirty="0"/>
              <a:t> 다른 </a:t>
            </a:r>
            <a:r>
              <a:rPr lang="ko-KR" altLang="ko-KR" dirty="0" err="1"/>
              <a:t>channel의</a:t>
            </a:r>
            <a:r>
              <a:rPr lang="ko-KR" altLang="ko-KR" dirty="0"/>
              <a:t> </a:t>
            </a:r>
            <a:r>
              <a:rPr lang="ko-KR" altLang="ko-KR" dirty="0" err="1"/>
              <a:t>quantization</a:t>
            </a:r>
            <a:r>
              <a:rPr lang="ko-KR" altLang="ko-KR" dirty="0"/>
              <a:t> </a:t>
            </a:r>
            <a:r>
              <a:rPr lang="ko-KR" altLang="ko-KR" dirty="0" err="1"/>
              <a:t>range를</a:t>
            </a:r>
            <a:r>
              <a:rPr lang="ko-KR" altLang="ko-KR" dirty="0"/>
              <a:t> 망치</a:t>
            </a:r>
            <a:r>
              <a:rPr lang="ko-KR" altLang="en-US" dirty="0"/>
              <a:t>기</a:t>
            </a:r>
            <a:endParaRPr lang="ko-KR" altLang="ko-KR" dirty="0"/>
          </a:p>
        </p:txBody>
      </p:sp>
      <p:sp>
        <p:nvSpPr>
          <p:cNvPr id="74" name="Google Shape;74;p2:notes">
            <a:extLst>
              <a:ext uri="{FF2B5EF4-FFF2-40B4-BE49-F238E27FC236}">
                <a16:creationId xmlns:a16="http://schemas.microsoft.com/office/drawing/2014/main" id="{EF9131D1-0AAA-2BE5-CBD6-D4D7E080D38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460182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5fa42d7dc_0_4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3f5fa42d7dc_0_4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1">
              <a:spcBef>
                <a:spcPts val="0"/>
              </a:spcBef>
            </a:pPr>
            <a:r>
              <a:rPr lang="ko" alt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중요도 낮아짐</a:t>
            </a:r>
            <a:endParaRPr lang="en-US" altLang="ko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1">
              <a:spcBef>
                <a:spcPts val="0"/>
              </a:spcBef>
            </a:pPr>
            <a:r>
              <a:rPr lang="ko" alt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기존</a:t>
            </a:r>
            <a:r>
              <a:rPr lang="en-US" altLang="ko-KR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ko-KR" altLang="ko-KR" b="1" dirty="0"/>
              <a:t>주어진 분포 안에서 최적의 </a:t>
            </a:r>
            <a:r>
              <a:rPr lang="ko-KR" altLang="ko-KR" b="1" dirty="0" err="1"/>
              <a:t>quantization</a:t>
            </a:r>
            <a:r>
              <a:rPr lang="ko-KR" altLang="ko-KR" b="1" dirty="0"/>
              <a:t> </a:t>
            </a:r>
            <a:r>
              <a:rPr lang="ko-KR" altLang="ko-KR" b="1" dirty="0" err="1"/>
              <a:t>range를</a:t>
            </a:r>
            <a:r>
              <a:rPr lang="ko-KR" altLang="ko-KR" b="1" dirty="0"/>
              <a:t> 찾는 문제</a:t>
            </a:r>
            <a:endParaRPr lang="ko-KR" altLang="ko-KR" dirty="0"/>
          </a:p>
          <a:p>
            <a:pPr lvl="1">
              <a:spcBef>
                <a:spcPts val="0"/>
              </a:spcBef>
            </a:pPr>
            <a:r>
              <a:rPr lang="en-US" altLang="ko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LLM: activation </a:t>
            </a:r>
            <a:r>
              <a:rPr lang="en-US" altLang="ko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outlier</a:t>
            </a:r>
            <a:r>
              <a:rPr lang="ko" altLang="en-US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 중요 </a:t>
            </a:r>
            <a:r>
              <a:rPr lang="en-US" altLang="ko-KR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-&gt; range </a:t>
            </a:r>
            <a:r>
              <a:rPr lang="ko-KR" altLang="en-US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중요도 </a:t>
            </a:r>
            <a:r>
              <a:rPr lang="en-US" altLang="ko-KR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low. </a:t>
            </a:r>
            <a:r>
              <a:rPr lang="ko-KR" altLang="ko-KR" b="1" dirty="0"/>
              <a:t>분포 자체를 </a:t>
            </a:r>
            <a:r>
              <a:rPr lang="ko-KR" altLang="ko-KR" b="1" dirty="0" err="1"/>
              <a:t>quantization-friendly하게</a:t>
            </a:r>
            <a:r>
              <a:rPr lang="ko-KR" altLang="ko-KR" b="1" dirty="0"/>
              <a:t> 바꾸는 문제</a:t>
            </a:r>
            <a:r>
              <a:rPr lang="ko-KR" altLang="en-US" b="1" dirty="0"/>
              <a:t>로 </a:t>
            </a:r>
            <a:r>
              <a:rPr lang="en-US" altLang="ko-KR" b="1" dirty="0"/>
              <a:t>shift</a:t>
            </a:r>
          </a:p>
          <a:p>
            <a:pPr lvl="2">
              <a:spcBef>
                <a:spcPts val="0"/>
              </a:spcBef>
            </a:pPr>
            <a:r>
              <a:rPr lang="en-US" altLang="ko-KR" b="1" dirty="0"/>
              <a:t>Low-bit rounding error</a:t>
            </a:r>
          </a:p>
          <a:p>
            <a:pPr lvl="2">
              <a:spcBef>
                <a:spcPts val="0"/>
              </a:spcBef>
            </a:pPr>
            <a:r>
              <a:rPr lang="en-US" altLang="ko-KR" b="1" dirty="0"/>
              <a:t>Channel-wise dynamic range imbalance</a:t>
            </a:r>
            <a:endParaRPr lang="ko-KR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altLang="ko-KR" sz="1100" b="1" dirty="0">
              <a:solidFill>
                <a:schemeClr val="lt2"/>
              </a:solidFill>
            </a:endParaRPr>
          </a:p>
        </p:txBody>
      </p:sp>
      <p:sp>
        <p:nvSpPr>
          <p:cNvPr id="183" name="Google Shape;183;g3f5fa42d7dc_0_47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5fa42d7dc_0_5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g3f5fa42d7dc_0_5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ko" altLang="ko-KR" dirty="0"/>
              <a:t>—</a:t>
            </a:r>
            <a:endParaRPr lang="en-US" altLang="ko" dirty="0"/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altLang="ko-KR" dirty="0" err="1"/>
              <a:t>Adaround</a:t>
            </a:r>
            <a:r>
              <a:rPr lang="ko-KR" altLang="en-US" dirty="0"/>
              <a:t>가 </a:t>
            </a:r>
            <a:r>
              <a:rPr lang="en-US" altLang="ko-KR" dirty="0"/>
              <a:t>bias correction </a:t>
            </a:r>
            <a:r>
              <a:rPr lang="ko-KR" altLang="en-US" dirty="0"/>
              <a:t>상당 부분을 흡수</a:t>
            </a:r>
            <a:r>
              <a:rPr lang="en-US" altLang="ko-KR" dirty="0"/>
              <a:t>. </a:t>
            </a:r>
            <a:endParaRPr lang="en-US" altLang="ko" dirty="0"/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altLang="ko" sz="1600" b="1" dirty="0"/>
              <a:t>Quantization </a:t>
            </a:r>
            <a:r>
              <a:rPr lang="ko" altLang="en-US" sz="1600" b="1" dirty="0"/>
              <a:t>이후</a:t>
            </a:r>
            <a:r>
              <a:rPr lang="en-US" altLang="ko-KR" sz="1600" b="1" dirty="0"/>
              <a:t>, PTQ </a:t>
            </a:r>
            <a:r>
              <a:rPr lang="ko-KR" altLang="en-US" sz="1600" b="1" dirty="0"/>
              <a:t>후반부에 위치</a:t>
            </a:r>
            <a:r>
              <a:rPr lang="en-US" altLang="ko-KR" sz="1600" b="1" dirty="0"/>
              <a:t>. </a:t>
            </a:r>
            <a:r>
              <a:rPr lang="ko-KR" altLang="ko-KR" sz="1600" dirty="0"/>
              <a:t>후처리로 보정</a:t>
            </a:r>
            <a:endParaRPr lang="en-US" altLang="ko" sz="1600" b="1" dirty="0"/>
          </a:p>
          <a:p>
            <a:pPr lvl="0" indent="-342900">
              <a:spcBef>
                <a:spcPts val="0"/>
              </a:spcBef>
              <a:buSzPts val="1800"/>
            </a:pPr>
            <a:r>
              <a:rPr lang="en" altLang="ko" sz="1800" b="1" dirty="0"/>
              <a:t>Deprecated!</a:t>
            </a:r>
            <a:endParaRPr lang="en" altLang="ko-KR" sz="1800" b="1" dirty="0"/>
          </a:p>
          <a:p>
            <a:pPr lvl="1">
              <a:spcBef>
                <a:spcPts val="0"/>
              </a:spcBef>
            </a:pPr>
            <a:r>
              <a:rPr lang="ko" alt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기존</a:t>
            </a:r>
            <a:r>
              <a:rPr lang="en-US" altLang="ko-KR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ko-KR" altLang="ko-KR" b="1" dirty="0"/>
              <a:t>주어진 분포 안에서 최적의 </a:t>
            </a:r>
            <a:r>
              <a:rPr lang="ko-KR" altLang="ko-KR" b="1" dirty="0" err="1"/>
              <a:t>quantization</a:t>
            </a:r>
            <a:r>
              <a:rPr lang="ko-KR" altLang="ko-KR" b="1" dirty="0"/>
              <a:t> </a:t>
            </a:r>
            <a:r>
              <a:rPr lang="ko-KR" altLang="ko-KR" b="1" dirty="0" err="1"/>
              <a:t>range를</a:t>
            </a:r>
            <a:r>
              <a:rPr lang="ko-KR" altLang="ko-KR" b="1" dirty="0"/>
              <a:t> 찾는 문제</a:t>
            </a:r>
            <a:endParaRPr lang="ko-KR" altLang="ko-KR" dirty="0"/>
          </a:p>
          <a:p>
            <a:pPr lvl="1">
              <a:spcBef>
                <a:spcPts val="0"/>
              </a:spcBef>
            </a:pPr>
            <a:r>
              <a:rPr lang="en-US" altLang="ko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LLM: activation </a:t>
            </a:r>
            <a:r>
              <a:rPr lang="en-US" altLang="ko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outlier</a:t>
            </a:r>
            <a:r>
              <a:rPr lang="ko" altLang="en-US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 중요 </a:t>
            </a:r>
            <a:r>
              <a:rPr lang="en-US" altLang="ko-KR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-&gt; range </a:t>
            </a:r>
            <a:r>
              <a:rPr lang="ko-KR" altLang="en-US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중요도 </a:t>
            </a:r>
            <a:r>
              <a:rPr lang="en-US" altLang="ko-KR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low. </a:t>
            </a:r>
            <a:r>
              <a:rPr lang="ko-KR" altLang="ko-KR" b="1" dirty="0"/>
              <a:t>분포 자체를 </a:t>
            </a:r>
            <a:r>
              <a:rPr lang="ko-KR" altLang="ko-KR" b="1" dirty="0" err="1"/>
              <a:t>quantization-friendly하게</a:t>
            </a:r>
            <a:r>
              <a:rPr lang="ko-KR" altLang="ko-KR" b="1" dirty="0"/>
              <a:t> 바꾸는 문제</a:t>
            </a:r>
            <a:r>
              <a:rPr lang="ko-KR" altLang="en-US" b="1" dirty="0"/>
              <a:t>로 </a:t>
            </a:r>
            <a:r>
              <a:rPr lang="en-US" altLang="ko-KR" b="1" dirty="0"/>
              <a:t>shift</a:t>
            </a:r>
          </a:p>
          <a:p>
            <a:pPr lvl="2">
              <a:spcBef>
                <a:spcPts val="0"/>
              </a:spcBef>
            </a:pPr>
            <a:r>
              <a:rPr lang="en-US" altLang="ko-KR" b="1" dirty="0"/>
              <a:t>Low-bit rounding error</a:t>
            </a:r>
          </a:p>
          <a:p>
            <a:pPr lvl="2">
              <a:spcBef>
                <a:spcPts val="0"/>
              </a:spcBef>
            </a:pPr>
            <a:r>
              <a:rPr lang="en-US" altLang="ko-KR" b="1" dirty="0"/>
              <a:t>Channel-wise dynamic range imbalance</a:t>
            </a:r>
          </a:p>
          <a:p>
            <a:pPr lvl="0" indent="-317500">
              <a:spcBef>
                <a:spcPts val="0"/>
              </a:spcBef>
              <a:buSzPts val="1400"/>
            </a:pPr>
            <a:r>
              <a:rPr lang="en" altLang="ko" sz="1400" dirty="0"/>
              <a:t>GPTQ:    Hessian based output reconstruction</a:t>
            </a:r>
            <a:endParaRPr lang="ko-KR" altLang="ko-KR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</a:pPr>
            <a:endParaRPr dirty="0"/>
          </a:p>
        </p:txBody>
      </p:sp>
      <p:sp>
        <p:nvSpPr>
          <p:cNvPr id="193" name="Google Shape;193;g3f5fa42d7dc_0_5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5fa42d7dc_0_5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g3f5fa42d7dc_0_5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</a:pPr>
            <a:endParaRPr/>
          </a:p>
        </p:txBody>
      </p:sp>
      <p:sp>
        <p:nvSpPr>
          <p:cNvPr id="204" name="Google Shape;204;g3f5fa42d7dc_0_5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f60866fa4d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5" name="Google Shape;295;g3f60866fa4d_0_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</a:pPr>
            <a:endParaRPr/>
          </a:p>
        </p:txBody>
      </p:sp>
      <p:sp>
        <p:nvSpPr>
          <p:cNvPr id="296" name="Google Shape;296;g3f60866fa4d_0_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f63937a9f2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9" name="Google Shape;459;g3f63937a9f2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>
          <a:extLst>
            <a:ext uri="{FF2B5EF4-FFF2-40B4-BE49-F238E27FC236}">
              <a16:creationId xmlns:a16="http://schemas.microsoft.com/office/drawing/2014/main" id="{4E2DA1C8-62CD-0290-5E04-DC935E0CD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f63937a9f2_0_23:notes">
            <a:extLst>
              <a:ext uri="{FF2B5EF4-FFF2-40B4-BE49-F238E27FC236}">
                <a16:creationId xmlns:a16="http://schemas.microsoft.com/office/drawing/2014/main" id="{7BFF5E68-56CC-2CE3-C974-26CE7EA209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7" name="Google Shape;467;g3f63937a9f2_0_23:notes">
            <a:extLst>
              <a:ext uri="{FF2B5EF4-FFF2-40B4-BE49-F238E27FC236}">
                <a16:creationId xmlns:a16="http://schemas.microsoft.com/office/drawing/2014/main" id="{EA7921ED-4684-BE40-0FCC-D3DFDC931B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tabLst/>
              <a:defRPr/>
            </a:pPr>
            <a:r>
              <a:rPr lang="en-US" altLang="ko-KR" dirty="0"/>
              <a:t>GPTQ(optimization-based method): unsuitable for quantizing KV cache due to the overhead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tabLst/>
              <a:defRPr/>
            </a:pPr>
            <a:r>
              <a:rPr lang="en-US" altLang="ko-KR" dirty="0"/>
              <a:t>Previous: Streaming KV Cache: apply per-token quantization to both key and value cache since the newly quantized KV cache can be naively added to the existing quantized one along the token dimension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</a:pPr>
            <a:r>
              <a:rPr lang="ko-KR" altLang="ko-KR" dirty="0" err="1"/>
              <a:t>A</a:t>
            </a:r>
            <a:r>
              <a:rPr lang="ko-KR" altLang="ko-KR" dirty="0"/>
              <a:t> </a:t>
            </a:r>
            <a:r>
              <a:rPr lang="ko-KR" altLang="ko-KR" dirty="0" err="1"/>
              <a:t>streaming</a:t>
            </a:r>
            <a:r>
              <a:rPr lang="ko-KR" altLang="ko-KR" dirty="0"/>
              <a:t> </a:t>
            </a:r>
            <a:r>
              <a:rPr lang="ko-KR" altLang="ko-KR" dirty="0" err="1"/>
              <a:t>residual</a:t>
            </a:r>
            <a:r>
              <a:rPr lang="ko-KR" altLang="ko-KR" dirty="0"/>
              <a:t> </a:t>
            </a:r>
            <a:r>
              <a:rPr lang="ko-KR" altLang="ko-KR" dirty="0" err="1"/>
              <a:t>buffer</a:t>
            </a:r>
            <a:r>
              <a:rPr lang="ko-KR" altLang="ko-KR" dirty="0"/>
              <a:t> </a:t>
            </a:r>
            <a:r>
              <a:rPr lang="ko-KR" altLang="ko-KR" dirty="0" err="1"/>
              <a:t>reconciles</a:t>
            </a:r>
            <a:r>
              <a:rPr lang="ko-KR" altLang="ko-KR" dirty="0"/>
              <a:t> </a:t>
            </a:r>
            <a:r>
              <a:rPr lang="ko-KR" altLang="ko-KR" dirty="0" err="1"/>
              <a:t>per-channel</a:t>
            </a:r>
            <a:r>
              <a:rPr lang="ko-KR" altLang="ko-KR" dirty="0"/>
              <a:t> </a:t>
            </a:r>
            <a:r>
              <a:rPr lang="ko-KR" altLang="ko-KR" dirty="0" err="1"/>
              <a:t>keys</a:t>
            </a:r>
            <a:r>
              <a:rPr lang="ko-KR" altLang="ko-KR" dirty="0"/>
              <a:t> </a:t>
            </a:r>
            <a:r>
              <a:rPr lang="ko-KR" altLang="ko-KR" dirty="0" err="1"/>
              <a:t>with</a:t>
            </a:r>
            <a:r>
              <a:rPr lang="ko-KR" altLang="ko-KR" dirty="0"/>
              <a:t> </a:t>
            </a:r>
            <a:r>
              <a:rPr lang="ko-KR" altLang="ko-KR" dirty="0" err="1"/>
              <a:t>autoregressive</a:t>
            </a:r>
            <a:r>
              <a:rPr lang="ko-KR" altLang="ko-KR" dirty="0"/>
              <a:t> </a:t>
            </a:r>
            <a:r>
              <a:rPr lang="ko-KR" altLang="ko-KR" dirty="0" err="1"/>
              <a:t>decoding</a:t>
            </a:r>
            <a:r>
              <a:rPr lang="ko-KR" altLang="ko-KR" dirty="0"/>
              <a:t> </a:t>
            </a:r>
            <a:endParaRPr lang="en-US" altLang="ko-KR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</a:pPr>
            <a:r>
              <a:rPr lang="ko-KR" altLang="ko-KR" dirty="0" err="1"/>
              <a:t>Reaches</a:t>
            </a:r>
            <a:r>
              <a:rPr lang="ko-KR" altLang="ko-KR" dirty="0"/>
              <a:t> 2-bit </a:t>
            </a:r>
            <a:r>
              <a:rPr lang="ko-KR" altLang="ko-KR" dirty="0" err="1"/>
              <a:t>using</a:t>
            </a:r>
            <a:r>
              <a:rPr lang="ko-KR" altLang="ko-KR" dirty="0"/>
              <a:t> </a:t>
            </a:r>
            <a:r>
              <a:rPr lang="ko-KR" altLang="ko-KR" dirty="0" err="1"/>
              <a:t>Axis</a:t>
            </a:r>
            <a:r>
              <a:rPr lang="ko-KR" altLang="ko-KR" dirty="0"/>
              <a:t> 2 </a:t>
            </a:r>
            <a:r>
              <a:rPr lang="ko-KR" altLang="ko-KR" dirty="0" err="1"/>
              <a:t>alone</a:t>
            </a:r>
            <a:r>
              <a:rPr lang="ko-KR" altLang="ko-KR" dirty="0"/>
              <a:t> — </a:t>
            </a:r>
            <a:r>
              <a:rPr lang="ko-KR" altLang="ko-KR" dirty="0" err="1"/>
              <a:t>Axis</a:t>
            </a:r>
            <a:r>
              <a:rPr lang="ko-KR" altLang="ko-KR" dirty="0"/>
              <a:t> 3 </a:t>
            </a:r>
            <a:r>
              <a:rPr lang="ko-KR" altLang="ko-KR" dirty="0" err="1"/>
              <a:t>never</a:t>
            </a:r>
            <a:r>
              <a:rPr lang="ko-KR" altLang="ko-KR" dirty="0"/>
              <a:t> </a:t>
            </a:r>
            <a:r>
              <a:rPr lang="ko-KR" altLang="ko-KR" dirty="0" err="1"/>
              <a:t>enters</a:t>
            </a:r>
            <a:endParaRPr dirty="0"/>
          </a:p>
        </p:txBody>
      </p:sp>
      <p:sp>
        <p:nvSpPr>
          <p:cNvPr id="468" name="Google Shape;468;g3f63937a9f2_0_23:notes">
            <a:extLst>
              <a:ext uri="{FF2B5EF4-FFF2-40B4-BE49-F238E27FC236}">
                <a16:creationId xmlns:a16="http://schemas.microsoft.com/office/drawing/2014/main" id="{14A84691-2ECD-189A-14CC-77506660ECA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90625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>
          <a:extLst>
            <a:ext uri="{FF2B5EF4-FFF2-40B4-BE49-F238E27FC236}">
              <a16:creationId xmlns:a16="http://schemas.microsoft.com/office/drawing/2014/main" id="{B0432AD4-869B-B982-CAC0-CCD009195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f63937a9f2_0_23:notes">
            <a:extLst>
              <a:ext uri="{FF2B5EF4-FFF2-40B4-BE49-F238E27FC236}">
                <a16:creationId xmlns:a16="http://schemas.microsoft.com/office/drawing/2014/main" id="{B28F6219-1290-F4AE-D745-0CCFE9BACB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7" name="Google Shape;467;g3f63937a9f2_0_23:notes">
            <a:extLst>
              <a:ext uri="{FF2B5EF4-FFF2-40B4-BE49-F238E27FC236}">
                <a16:creationId xmlns:a16="http://schemas.microsoft.com/office/drawing/2014/main" id="{3AB05A40-0212-BA10-54BF-2D2CBEDD7D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0" lvl="0" indent="-107950">
              <a:spcBef>
                <a:spcPts val="0"/>
              </a:spcBef>
            </a:pPr>
            <a:r>
              <a:rPr lang="en-US" altLang="ko" dirty="0"/>
              <a:t>Low-bit restore</a:t>
            </a:r>
          </a:p>
          <a:p>
            <a:pPr marL="127000" lvl="0" indent="-107950">
              <a:spcBef>
                <a:spcPts val="0"/>
              </a:spcBef>
            </a:pPr>
            <a:r>
              <a:rPr lang="en-US" altLang="ko" dirty="0"/>
              <a:t>Limitation: </a:t>
            </a:r>
            <a:r>
              <a:rPr lang="en-US" altLang="ko-KR" dirty="0"/>
              <a:t>1-bit generalization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</a:pPr>
            <a:endParaRPr dirty="0"/>
          </a:p>
        </p:txBody>
      </p:sp>
      <p:sp>
        <p:nvSpPr>
          <p:cNvPr id="468" name="Google Shape;468;g3f63937a9f2_0_23:notes">
            <a:extLst>
              <a:ext uri="{FF2B5EF4-FFF2-40B4-BE49-F238E27FC236}">
                <a16:creationId xmlns:a16="http://schemas.microsoft.com/office/drawing/2014/main" id="{4003A0A1-EE4B-2DA5-7592-5AF744D7CBC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389759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f63937a9f2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7" name="Google Shape;467;g3f63937a9f2_0_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0" indent="-107950">
              <a:spcBef>
                <a:spcPts val="0"/>
              </a:spcBef>
            </a:pPr>
            <a:r>
              <a:rPr lang="en-US" altLang="ko" dirty="0"/>
              <a:t>Method:</a:t>
            </a:r>
          </a:p>
          <a:p>
            <a:pPr marL="584200" lvl="1" indent="-107950">
              <a:spcBef>
                <a:spcPts val="0"/>
              </a:spcBef>
            </a:pPr>
            <a:r>
              <a:rPr lang="en-US" altLang="ko" dirty="0"/>
              <a:t>Key: </a:t>
            </a:r>
          </a:p>
          <a:p>
            <a:pPr marL="1041400" lvl="2" indent="-107950">
              <a:spcBef>
                <a:spcPts val="0"/>
              </a:spcBef>
            </a:pPr>
            <a:r>
              <a:rPr lang="en-US" altLang="ko" dirty="0"/>
              <a:t>the frequency domain via the Fast Fourier Transform (FFT) - convert time to frequency -&gt; restore inverse FFT</a:t>
            </a:r>
          </a:p>
          <a:p>
            <a:pPr marL="584200" lvl="1" indent="-107950">
              <a:spcBef>
                <a:spcPts val="0"/>
              </a:spcBef>
            </a:pPr>
            <a:r>
              <a:rPr lang="en-US" altLang="ko" dirty="0"/>
              <a:t>Value: </a:t>
            </a:r>
          </a:p>
          <a:p>
            <a:pPr marL="1041400" marR="0" lvl="2" indent="-1079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tabLst/>
              <a:defRPr/>
            </a:pPr>
            <a:r>
              <a:rPr lang="en-US" altLang="ko" b="1" dirty="0"/>
              <a:t>System + visual + text </a:t>
            </a:r>
            <a:r>
              <a:rPr lang="ko" altLang="en-US" b="1" dirty="0"/>
              <a:t>에서 </a:t>
            </a:r>
            <a:r>
              <a:rPr lang="en-US" altLang="ko" b="1" dirty="0"/>
              <a:t>visual X token cross-modal attention score</a:t>
            </a:r>
            <a:r>
              <a:rPr lang="ko" altLang="en-US" b="1" dirty="0"/>
              <a:t>구해서 이중 </a:t>
            </a:r>
            <a:r>
              <a:rPr lang="en-US" altLang="ko" b="1" dirty="0"/>
              <a:t>n = pl</a:t>
            </a:r>
            <a:r>
              <a:rPr lang="ko" altLang="en-US" b="1" dirty="0"/>
              <a:t>개 선정</a:t>
            </a:r>
            <a:r>
              <a:rPr lang="en-US" altLang="ko-KR" b="1" dirty="0"/>
              <a:t>. </a:t>
            </a:r>
            <a:endParaRPr lang="en-US" altLang="ko" b="1" dirty="0"/>
          </a:p>
          <a:p>
            <a:pPr marL="1041400" marR="0" lvl="2" indent="-1079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tabLst/>
              <a:defRPr/>
            </a:pPr>
            <a:r>
              <a:rPr lang="en-US" altLang="ko" b="1" dirty="0"/>
              <a:t>Mapping set to {-1, 0, 1}</a:t>
            </a:r>
            <a:r>
              <a:rPr lang="en-US" altLang="ko" dirty="0"/>
              <a:t> -&gt; Value * attention </a:t>
            </a:r>
            <a:r>
              <a:rPr lang="en-US" altLang="ko" dirty="0" err="1"/>
              <a:t>matmul</a:t>
            </a:r>
            <a:r>
              <a:rPr lang="en-US" altLang="ko" dirty="0"/>
              <a:t> -&gt; addition =&gt; reducing computation</a:t>
            </a:r>
          </a:p>
          <a:p>
            <a:pPr marL="1041400" lvl="2" indent="-107950">
              <a:spcBef>
                <a:spcPts val="0"/>
              </a:spcBef>
            </a:pPr>
            <a:r>
              <a:rPr lang="en-US" altLang="ko" dirty="0"/>
              <a:t>token protection based on their semantic relevance </a:t>
            </a:r>
            <a:r>
              <a:rPr lang="en-US" altLang="ko-KR" dirty="0"/>
              <a:t>- preserved at 2-bit precision</a:t>
            </a:r>
            <a:endParaRPr lang="en-US" altLang="ko" dirty="0"/>
          </a:p>
          <a:p>
            <a:pPr marL="127000" lvl="0" indent="-107950">
              <a:spcBef>
                <a:spcPts val="0"/>
              </a:spcBef>
            </a:pPr>
            <a:r>
              <a:rPr lang="en-US" altLang="ko" dirty="0"/>
              <a:t>Experiment: </a:t>
            </a:r>
          </a:p>
          <a:p>
            <a:pPr marL="127000" lvl="0" indent="-107950">
              <a:spcBef>
                <a:spcPts val="0"/>
              </a:spcBef>
            </a:pPr>
            <a:r>
              <a:rPr lang="en-US" altLang="ko" dirty="0"/>
              <a:t>Effect: KV cache to 1.5-bit and 1.58-bit precision with almost no performance drop compared to the FP16 counterparts. reducing the KV cache size by 80%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</a:pPr>
            <a:endParaRPr dirty="0"/>
          </a:p>
        </p:txBody>
      </p:sp>
      <p:sp>
        <p:nvSpPr>
          <p:cNvPr id="468" name="Google Shape;468;g3f63937a9f2_0_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f6967f034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5" name="Google Shape;475;g3f6967f0340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</a:pPr>
            <a:endParaRPr dirty="0"/>
          </a:p>
        </p:txBody>
      </p:sp>
      <p:sp>
        <p:nvSpPr>
          <p:cNvPr id="476" name="Google Shape;476;g3f6967f0340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4" name="Google Shape;48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5" name="Google Shape;48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emil.khu.ac.kr/" TargetMode="Externa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emil.khu.ac.kr/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emil.khu.ac.kr/" TargetMode="Externa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emil.khu.ac.kr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>
  <p:cSld name="제목 슬라이드">
    <p:bg>
      <p:bgPr>
        <a:solidFill>
          <a:srgbClr val="D8DDE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ftr" idx="11"/>
          </p:nvPr>
        </p:nvSpPr>
        <p:spPr>
          <a:xfrm>
            <a:off x="371475" y="4899671"/>
            <a:ext cx="4457700" cy="88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378591" y="1464869"/>
            <a:ext cx="8344785" cy="601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4100"/>
              <a:buNone/>
              <a:defRPr sz="4100" b="1"/>
            </a:lvl1pPr>
            <a:lvl2pPr marL="914400" lvl="1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/>
            </a:lvl2pPr>
            <a:lvl3pPr marL="1371600" lvl="2" indent="-28575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900"/>
              <a:buChar char="•"/>
              <a:defRPr/>
            </a:lvl3pPr>
            <a:lvl4pPr marL="1828800" lvl="3" indent="-266700" algn="l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600"/>
              <a:buChar char="•"/>
              <a:defRPr/>
            </a:lvl4pPr>
            <a:lvl5pPr marL="2286000" lvl="4" indent="-32385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500"/>
              <a:buChar char="•"/>
              <a:defRPr/>
            </a:lvl5pPr>
            <a:lvl6pPr marL="2743200" lvl="5" indent="-317500" algn="l">
              <a:lnSpc>
                <a:spcPct val="96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6pPr>
            <a:lvl7pPr marL="3200400" lvl="6" indent="-317500" algn="l">
              <a:lnSpc>
                <a:spcPct val="107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marL="3657600" lvl="7" indent="-317500" algn="l">
              <a:lnSpc>
                <a:spcPct val="87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8pPr>
            <a:lvl9pPr marL="4114800" lvl="8" indent="-317500" algn="l">
              <a:lnSpc>
                <a:spcPct val="87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body" idx="2"/>
          </p:nvPr>
        </p:nvSpPr>
        <p:spPr>
          <a:xfrm>
            <a:off x="378591" y="806396"/>
            <a:ext cx="8344785" cy="617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rgbClr val="1C5BFF"/>
              </a:buClr>
              <a:buSzPts val="2400"/>
              <a:buNone/>
              <a:defRPr sz="2400" b="1">
                <a:solidFill>
                  <a:srgbClr val="1C5BFF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/>
            </a:lvl2pPr>
            <a:lvl3pPr marL="1371600" lvl="2" indent="-28575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900"/>
              <a:buChar char="•"/>
              <a:defRPr/>
            </a:lvl3pPr>
            <a:lvl4pPr marL="1828800" lvl="3" indent="-266700" algn="l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600"/>
              <a:buChar char="•"/>
              <a:defRPr/>
            </a:lvl4pPr>
            <a:lvl5pPr marL="2286000" lvl="4" indent="-32385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500"/>
              <a:buChar char="•"/>
              <a:defRPr/>
            </a:lvl5pPr>
            <a:lvl6pPr marL="2743200" lvl="5" indent="-317500" algn="l">
              <a:lnSpc>
                <a:spcPct val="96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6pPr>
            <a:lvl7pPr marL="3200400" lvl="6" indent="-317500" algn="l">
              <a:lnSpc>
                <a:spcPct val="107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marL="3657600" lvl="7" indent="-317500" algn="l">
              <a:lnSpc>
                <a:spcPct val="87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8pPr>
            <a:lvl9pPr marL="4114800" lvl="8" indent="-317500" algn="l">
              <a:lnSpc>
                <a:spcPct val="87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body" idx="3"/>
          </p:nvPr>
        </p:nvSpPr>
        <p:spPr>
          <a:xfrm>
            <a:off x="378591" y="3442944"/>
            <a:ext cx="8344785" cy="89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 b="1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marL="1828800" lvl="3" indent="-31750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6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6pPr>
            <a:lvl7pPr marL="3200400" lvl="6" indent="-317500" algn="l">
              <a:lnSpc>
                <a:spcPct val="107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marL="3657600" lvl="7" indent="-317500" algn="l">
              <a:lnSpc>
                <a:spcPct val="87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8pPr>
            <a:lvl9pPr marL="4114800" lvl="8" indent="-317500" algn="l">
              <a:lnSpc>
                <a:spcPct val="87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9pPr>
          </a:lstStyle>
          <a:p>
            <a:endParaRPr/>
          </a:p>
        </p:txBody>
      </p:sp>
      <p:pic>
        <p:nvPicPr>
          <p:cNvPr id="14" name="Google Shape;14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7458" y="129224"/>
            <a:ext cx="1343005" cy="3273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" name="Google Shape;15;p7"/>
          <p:cNvGrpSpPr/>
          <p:nvPr/>
        </p:nvGrpSpPr>
        <p:grpSpPr>
          <a:xfrm>
            <a:off x="8505766" y="143089"/>
            <a:ext cx="540000" cy="299605"/>
            <a:chOff x="1930026" y="4001475"/>
            <a:chExt cx="786280" cy="436246"/>
          </a:xfrm>
        </p:grpSpPr>
        <p:pic>
          <p:nvPicPr>
            <p:cNvPr id="16" name="Google Shape;16;p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969891" y="4001475"/>
              <a:ext cx="704153" cy="4362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7">
              <a:hlinkClick r:id="rId4"/>
            </p:cNvPr>
            <p:cNvSpPr/>
            <p:nvPr/>
          </p:nvSpPr>
          <p:spPr>
            <a:xfrm>
              <a:off x="1930026" y="4001475"/>
              <a:ext cx="786280" cy="424404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E3E6EE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8" name="Google Shape;18;p7"/>
          <p:cNvSpPr txBox="1"/>
          <p:nvPr/>
        </p:nvSpPr>
        <p:spPr>
          <a:xfrm>
            <a:off x="7027613" y="155856"/>
            <a:ext cx="1434757" cy="26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ko" sz="900" b="1" i="0" u="sng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lang="ko" sz="900" b="0" i="0" u="none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fficient </a:t>
            </a:r>
            <a:r>
              <a:rPr lang="ko" sz="900" b="1" i="0" u="sng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r>
              <a:rPr lang="ko" sz="900" b="0" i="0" u="none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ultimodal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ko" sz="900" b="1" i="0" u="sng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ko" sz="900" b="0" i="0" u="none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ntelligence </a:t>
            </a:r>
            <a:r>
              <a:rPr lang="ko" sz="900" b="1" i="0" u="sng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L</a:t>
            </a:r>
            <a:r>
              <a:rPr lang="ko" sz="900" b="0" i="0" u="none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ab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" name="Google Shape;1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7458" y="129224"/>
            <a:ext cx="1343005" cy="3273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7"/>
          <p:cNvGrpSpPr/>
          <p:nvPr/>
        </p:nvGrpSpPr>
        <p:grpSpPr>
          <a:xfrm>
            <a:off x="8505766" y="143089"/>
            <a:ext cx="540000" cy="299605"/>
            <a:chOff x="1930026" y="4001475"/>
            <a:chExt cx="786280" cy="436246"/>
          </a:xfrm>
        </p:grpSpPr>
        <p:pic>
          <p:nvPicPr>
            <p:cNvPr id="21" name="Google Shape;21;p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969891" y="4001475"/>
              <a:ext cx="704153" cy="4362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22;p7">
              <a:hlinkClick r:id="rId4"/>
            </p:cNvPr>
            <p:cNvSpPr/>
            <p:nvPr/>
          </p:nvSpPr>
          <p:spPr>
            <a:xfrm>
              <a:off x="1930026" y="4001475"/>
              <a:ext cx="786280" cy="424404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E3E6EE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23" name="Google Shape;23;p7"/>
          <p:cNvSpPr txBox="1"/>
          <p:nvPr/>
        </p:nvSpPr>
        <p:spPr>
          <a:xfrm>
            <a:off x="7027613" y="155856"/>
            <a:ext cx="1434757" cy="26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ko" sz="900" b="1" i="0" u="sng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lang="ko" sz="900" b="0" i="0" u="none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fficient </a:t>
            </a:r>
            <a:r>
              <a:rPr lang="ko" sz="900" b="1" i="0" u="sng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r>
              <a:rPr lang="ko" sz="900" b="0" i="0" u="none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ultimodal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ko" sz="900" b="1" i="0" u="sng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ko" sz="900" b="0" i="0" u="none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ntelligence </a:t>
            </a:r>
            <a:r>
              <a:rPr lang="ko" sz="900" b="1" i="0" u="sng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L</a:t>
            </a:r>
            <a:r>
              <a:rPr lang="ko" sz="900" b="0" i="0" u="none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ab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8"/>
          <p:cNvSpPr txBox="1"/>
          <p:nvPr/>
        </p:nvSpPr>
        <p:spPr>
          <a:xfrm>
            <a:off x="7451726" y="72982"/>
            <a:ext cx="1160651" cy="2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ko" sz="800" b="1" i="0" u="sng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lang="ko" sz="800" b="0" i="0" u="none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fficient </a:t>
            </a:r>
            <a:r>
              <a:rPr lang="ko" sz="800" b="1" i="0" u="sng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r>
              <a:rPr lang="ko" sz="800" b="0" i="0" u="none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ultimodal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ko" sz="800" b="1" i="0" u="sng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ko" sz="800" b="0" i="0" u="none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ntelligence </a:t>
            </a:r>
            <a:r>
              <a:rPr lang="ko" sz="800" b="1" i="0" u="sng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L</a:t>
            </a:r>
            <a:r>
              <a:rPr lang="ko" sz="800" b="0" i="0" u="none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ab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371475" y="301687"/>
            <a:ext cx="8390334" cy="310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None/>
              <a:defRPr sz="2400" b="1" i="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1"/>
          </p:nvPr>
        </p:nvSpPr>
        <p:spPr>
          <a:xfrm>
            <a:off x="371475" y="970022"/>
            <a:ext cx="8390334" cy="351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500"/>
              <a:buChar char="•"/>
              <a:defRPr sz="1500" b="0" i="0">
                <a:latin typeface="Lato"/>
                <a:ea typeface="Lato"/>
                <a:cs typeface="Lato"/>
                <a:sym typeface="Lato"/>
              </a:defRPr>
            </a:lvl1pPr>
            <a:lvl2pPr marL="914400" lvl="1" indent="-3175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1400" b="0" i="0">
                <a:latin typeface="Lato"/>
                <a:ea typeface="Lato"/>
                <a:cs typeface="Lato"/>
                <a:sym typeface="Lato"/>
              </a:defRPr>
            </a:lvl2pPr>
            <a:lvl3pPr marL="1371600" lvl="2" indent="-29845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100"/>
              <a:buChar char="•"/>
              <a:defRPr sz="1100" b="0" i="0">
                <a:latin typeface="Lato"/>
                <a:ea typeface="Lato"/>
                <a:cs typeface="Lato"/>
                <a:sym typeface="Lato"/>
              </a:defRPr>
            </a:lvl3pPr>
            <a:lvl4pPr marL="1828800" lvl="3" indent="-298450" algn="l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1100"/>
              <a:buChar char="•"/>
              <a:defRPr sz="1100" b="0" i="0">
                <a:latin typeface="Lato"/>
                <a:ea typeface="Lato"/>
                <a:cs typeface="Lato"/>
                <a:sym typeface="Lato"/>
              </a:defRPr>
            </a:lvl4pPr>
            <a:lvl5pPr marL="2286000" lvl="4" indent="-32385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500"/>
              <a:buChar char="•"/>
              <a:defRPr sz="1500" b="0" i="0">
                <a:latin typeface="Lato"/>
                <a:ea typeface="Lato"/>
                <a:cs typeface="Lato"/>
                <a:sym typeface="Lato"/>
              </a:defRPr>
            </a:lvl5pPr>
            <a:lvl6pPr marL="2743200" lvl="5" indent="-317500" algn="l">
              <a:lnSpc>
                <a:spcPct val="96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6pPr>
            <a:lvl7pPr marL="3200400" lvl="6" indent="-317500" algn="l">
              <a:lnSpc>
                <a:spcPct val="107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marL="3657600" lvl="7" indent="-317500" algn="l">
              <a:lnSpc>
                <a:spcPct val="87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8pPr>
            <a:lvl9pPr marL="4114800" lvl="8" indent="-317500" algn="l">
              <a:lnSpc>
                <a:spcPct val="87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ubTitle" idx="2"/>
          </p:nvPr>
        </p:nvSpPr>
        <p:spPr>
          <a:xfrm>
            <a:off x="370642" y="629372"/>
            <a:ext cx="8391167" cy="199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6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 b="0" i="0">
                <a:solidFill>
                  <a:srgbClr val="1C5BF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/>
            </a:lvl2pPr>
            <a:lvl3pPr lvl="2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3pPr>
            <a:lvl4pPr lvl="3" algn="ctr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4pPr>
            <a:lvl5pPr lvl="4" algn="ctr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5pPr>
            <a:lvl6pPr lvl="5" algn="ctr">
              <a:lnSpc>
                <a:spcPct val="96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107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87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87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ftr" idx="11"/>
          </p:nvPr>
        </p:nvSpPr>
        <p:spPr>
          <a:xfrm>
            <a:off x="46246" y="4995068"/>
            <a:ext cx="4465540" cy="121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253DC"/>
              </a:buClr>
              <a:buSzPts val="800"/>
              <a:buFont typeface="Arial"/>
              <a:buNone/>
              <a:defRPr sz="800" b="0" i="0">
                <a:solidFill>
                  <a:srgbClr val="3F486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8"/>
          <p:cNvSpPr txBox="1"/>
          <p:nvPr/>
        </p:nvSpPr>
        <p:spPr>
          <a:xfrm>
            <a:off x="8568358" y="4973835"/>
            <a:ext cx="542448" cy="148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00" tIns="0" rIns="13700" bIns="6850" anchor="b" anchorCtr="0">
            <a:sp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ko" sz="800" b="0" i="0" u="none" strike="noStrike" cap="none">
                <a:solidFill>
                  <a:srgbClr val="6F88AC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800" b="0" i="0" u="none" strike="noStrike" cap="none">
              <a:solidFill>
                <a:srgbClr val="6F88A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3"/>
          </p:nvPr>
        </p:nvSpPr>
        <p:spPr>
          <a:xfrm>
            <a:off x="370642" y="4636294"/>
            <a:ext cx="1415654" cy="191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1pPr>
            <a:lvl2pPr marL="914400" lvl="1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2pPr>
            <a:lvl3pPr marL="1371600" lvl="2" indent="-22860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3pPr>
            <a:lvl4pPr marL="1828800" lvl="3" indent="-228600" algn="ctr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4pPr>
            <a:lvl5pPr marL="2286000" lvl="4" indent="-228600" algn="ctr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5pPr>
            <a:lvl6pPr marL="2743200" lvl="5" indent="-317500" algn="l">
              <a:lnSpc>
                <a:spcPct val="96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6pPr>
            <a:lvl7pPr marL="3200400" lvl="6" indent="-317500" algn="l">
              <a:lnSpc>
                <a:spcPct val="107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marL="3657600" lvl="7" indent="-317500" algn="l">
              <a:lnSpc>
                <a:spcPct val="87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8pPr>
            <a:lvl9pPr marL="4114800" lvl="8" indent="-317500" algn="l">
              <a:lnSpc>
                <a:spcPct val="87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9pPr>
          </a:lstStyle>
          <a:p>
            <a:endParaRPr/>
          </a:p>
        </p:txBody>
      </p:sp>
      <p:pic>
        <p:nvPicPr>
          <p:cNvPr id="32" name="Google Shape;32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l="8326" r="8057"/>
          <a:stretch/>
        </p:blipFill>
        <p:spPr>
          <a:xfrm>
            <a:off x="8652787" y="40484"/>
            <a:ext cx="458019" cy="286597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8"/>
          <p:cNvSpPr txBox="1"/>
          <p:nvPr/>
        </p:nvSpPr>
        <p:spPr>
          <a:xfrm>
            <a:off x="7451726" y="72982"/>
            <a:ext cx="1160651" cy="2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ko" sz="800" b="1" i="0" u="sng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lang="ko" sz="800" b="0" i="0" u="none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fficient </a:t>
            </a:r>
            <a:r>
              <a:rPr lang="ko" sz="800" b="1" i="0" u="sng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r>
              <a:rPr lang="ko" sz="800" b="0" i="0" u="none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ultimodal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ko" sz="800" b="1" i="0" u="sng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ko" sz="800" b="0" i="0" u="none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ntelligence </a:t>
            </a:r>
            <a:r>
              <a:rPr lang="ko" sz="800" b="1" i="0" u="sng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L</a:t>
            </a:r>
            <a:r>
              <a:rPr lang="ko" sz="800" b="0" i="0" u="none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ab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8"/>
          <p:cNvSpPr txBox="1"/>
          <p:nvPr/>
        </p:nvSpPr>
        <p:spPr>
          <a:xfrm>
            <a:off x="8568358" y="4973835"/>
            <a:ext cx="542448" cy="148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00" tIns="0" rIns="13700" bIns="6850" anchor="b" anchorCtr="0">
            <a:sp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ko" sz="800" b="0" i="0" u="none" strike="noStrike" cap="none">
                <a:solidFill>
                  <a:srgbClr val="6F88AC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800" b="0" i="0" u="none" strike="noStrike" cap="none">
              <a:solidFill>
                <a:srgbClr val="6F88AC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5" name="Google Shape;35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l="8326" r="8057"/>
          <a:stretch/>
        </p:blipFill>
        <p:spPr>
          <a:xfrm>
            <a:off x="8652787" y="40484"/>
            <a:ext cx="458019" cy="2865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">
  <p:cSld name="1_제목 슬라이드">
    <p:bg>
      <p:bgPr>
        <a:solidFill>
          <a:srgbClr val="D8DDE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ftr" idx="11"/>
          </p:nvPr>
        </p:nvSpPr>
        <p:spPr>
          <a:xfrm>
            <a:off x="371475" y="4899671"/>
            <a:ext cx="4457700" cy="88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993039" y="1556821"/>
            <a:ext cx="7533027" cy="2932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1950" algn="l">
              <a:lnSpc>
                <a:spcPct val="95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Helvetica Neue"/>
              <a:buAutoNum type="arabicPeriod"/>
              <a:defRPr sz="2100" b="1"/>
            </a:lvl1pPr>
            <a:lvl2pPr marL="914400" lvl="1" indent="-3238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500"/>
              <a:buChar char="•"/>
              <a:defRPr sz="1500"/>
            </a:lvl2pPr>
            <a:lvl3pPr marL="1371600" lvl="2" indent="-31750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1400"/>
            </a:lvl3pPr>
            <a:lvl4pPr marL="1828800" lvl="3" indent="-298450" algn="l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1100"/>
              <a:buChar char="•"/>
              <a:defRPr sz="1100"/>
            </a:lvl4pPr>
            <a:lvl5pPr marL="2286000" lvl="4" indent="-361950" algn="l">
              <a:lnSpc>
                <a:spcPct val="95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2100"/>
              <a:buChar char="•"/>
              <a:defRPr sz="2100" b="1"/>
            </a:lvl5pPr>
            <a:lvl6pPr marL="2743200" lvl="5" indent="-317500" algn="l">
              <a:lnSpc>
                <a:spcPct val="96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6pPr>
            <a:lvl7pPr marL="3200400" lvl="6" indent="-317500" algn="l">
              <a:lnSpc>
                <a:spcPct val="107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marL="3657600" lvl="7" indent="-317500" algn="l">
              <a:lnSpc>
                <a:spcPct val="87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8pPr>
            <a:lvl9pPr marL="4114800" lvl="8" indent="-317500" algn="l">
              <a:lnSpc>
                <a:spcPct val="87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570310" y="698059"/>
            <a:ext cx="7955756" cy="557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rgbClr val="1C5BFF"/>
              </a:buClr>
              <a:buSzPts val="3000"/>
              <a:buNone/>
              <a:defRPr sz="3000" b="1">
                <a:solidFill>
                  <a:srgbClr val="1C5BFF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6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6pPr>
            <a:lvl7pPr marL="3200400" lvl="6" indent="-317500" algn="l">
              <a:lnSpc>
                <a:spcPct val="107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marL="3657600" lvl="7" indent="-317500" algn="l">
              <a:lnSpc>
                <a:spcPct val="87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8pPr>
            <a:lvl9pPr marL="4114800" lvl="8" indent="-317500" algn="l">
              <a:lnSpc>
                <a:spcPct val="87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9pPr>
          </a:lstStyle>
          <a:p>
            <a:endParaRPr/>
          </a:p>
        </p:txBody>
      </p:sp>
      <p:pic>
        <p:nvPicPr>
          <p:cNvPr id="40" name="Google Shape;40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7458" y="129224"/>
            <a:ext cx="1343005" cy="3273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oogle Shape;41;p9"/>
          <p:cNvGrpSpPr/>
          <p:nvPr/>
        </p:nvGrpSpPr>
        <p:grpSpPr>
          <a:xfrm>
            <a:off x="8505766" y="143089"/>
            <a:ext cx="540000" cy="299605"/>
            <a:chOff x="1930026" y="4001475"/>
            <a:chExt cx="786280" cy="436246"/>
          </a:xfrm>
        </p:grpSpPr>
        <p:pic>
          <p:nvPicPr>
            <p:cNvPr id="42" name="Google Shape;42;p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969891" y="4001475"/>
              <a:ext cx="704153" cy="4362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" name="Google Shape;43;p9">
              <a:hlinkClick r:id="rId4"/>
            </p:cNvPr>
            <p:cNvSpPr/>
            <p:nvPr/>
          </p:nvSpPr>
          <p:spPr>
            <a:xfrm>
              <a:off x="1930026" y="4001475"/>
              <a:ext cx="786280" cy="424404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E3E6EE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44" name="Google Shape;44;p9"/>
          <p:cNvSpPr txBox="1"/>
          <p:nvPr/>
        </p:nvSpPr>
        <p:spPr>
          <a:xfrm>
            <a:off x="7027613" y="155856"/>
            <a:ext cx="1434757" cy="26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ko" sz="900" b="1" i="0" u="sng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lang="ko" sz="900" b="0" i="0" u="none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fficient </a:t>
            </a:r>
            <a:r>
              <a:rPr lang="ko" sz="900" b="1" i="0" u="sng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r>
              <a:rPr lang="ko" sz="900" b="0" i="0" u="none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ultimodal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ko" sz="900" b="1" i="0" u="sng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ko" sz="900" b="0" i="0" u="none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ntelligence </a:t>
            </a:r>
            <a:r>
              <a:rPr lang="ko" sz="900" b="1" i="0" u="sng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L</a:t>
            </a:r>
            <a:r>
              <a:rPr lang="ko" sz="900" b="0" i="0" u="none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ab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" name="Google Shape;4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7458" y="129224"/>
            <a:ext cx="1343005" cy="3273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" name="Google Shape;46;p9"/>
          <p:cNvGrpSpPr/>
          <p:nvPr/>
        </p:nvGrpSpPr>
        <p:grpSpPr>
          <a:xfrm>
            <a:off x="8505766" y="143089"/>
            <a:ext cx="540000" cy="299605"/>
            <a:chOff x="1930026" y="4001475"/>
            <a:chExt cx="786280" cy="436246"/>
          </a:xfrm>
        </p:grpSpPr>
        <p:pic>
          <p:nvPicPr>
            <p:cNvPr id="47" name="Google Shape;47;p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969891" y="4001475"/>
              <a:ext cx="704153" cy="4362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" name="Google Shape;48;p9">
              <a:hlinkClick r:id="rId4"/>
            </p:cNvPr>
            <p:cNvSpPr/>
            <p:nvPr/>
          </p:nvSpPr>
          <p:spPr>
            <a:xfrm>
              <a:off x="1930026" y="4001475"/>
              <a:ext cx="786280" cy="424404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E3E6EE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49" name="Google Shape;49;p9"/>
          <p:cNvSpPr txBox="1"/>
          <p:nvPr/>
        </p:nvSpPr>
        <p:spPr>
          <a:xfrm>
            <a:off x="7027613" y="155856"/>
            <a:ext cx="1434757" cy="26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ko" sz="900" b="1" i="0" u="sng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lang="ko" sz="900" b="0" i="0" u="none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fficient </a:t>
            </a:r>
            <a:r>
              <a:rPr lang="ko" sz="900" b="1" i="0" u="sng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r>
              <a:rPr lang="ko" sz="900" b="0" i="0" u="none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ultimodal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ko" sz="900" b="1" i="0" u="sng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ko" sz="900" b="0" i="0" u="none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ntelligence </a:t>
            </a:r>
            <a:r>
              <a:rPr lang="ko" sz="900" b="1" i="0" u="sng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L</a:t>
            </a:r>
            <a:r>
              <a:rPr lang="ko" sz="900" b="0" i="0" u="none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ab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제목 슬라이드">
  <p:cSld name="2_제목 슬라이드">
    <p:bg>
      <p:bgPr>
        <a:solidFill>
          <a:srgbClr val="D8DDE6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>
            <a:spLocks noGrp="1"/>
          </p:cNvSpPr>
          <p:nvPr>
            <p:ph type="ftr" idx="11"/>
          </p:nvPr>
        </p:nvSpPr>
        <p:spPr>
          <a:xfrm>
            <a:off x="371475" y="4899671"/>
            <a:ext cx="4457700" cy="88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>
            <a:off x="378591" y="2087687"/>
            <a:ext cx="8344785" cy="601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6600"/>
              <a:buNone/>
              <a:defRPr sz="6600" b="1"/>
            </a:lvl1pPr>
            <a:lvl2pPr marL="914400" lvl="1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/>
            </a:lvl2pPr>
            <a:lvl3pPr marL="1371600" lvl="2" indent="-28575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900"/>
              <a:buChar char="•"/>
              <a:defRPr/>
            </a:lvl3pPr>
            <a:lvl4pPr marL="1828800" lvl="3" indent="-266700" algn="l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600"/>
              <a:buChar char="•"/>
              <a:defRPr/>
            </a:lvl4pPr>
            <a:lvl5pPr marL="2286000" lvl="4" indent="-32385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500"/>
              <a:buChar char="•"/>
              <a:defRPr/>
            </a:lvl5pPr>
            <a:lvl6pPr marL="2743200" lvl="5" indent="-317500" algn="l">
              <a:lnSpc>
                <a:spcPct val="96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6pPr>
            <a:lvl7pPr marL="3200400" lvl="6" indent="-317500" algn="l">
              <a:lnSpc>
                <a:spcPct val="107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marL="3657600" lvl="7" indent="-317500" algn="l">
              <a:lnSpc>
                <a:spcPct val="87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8pPr>
            <a:lvl9pPr marL="4114800" lvl="8" indent="-317500" algn="l">
              <a:lnSpc>
                <a:spcPct val="87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9pPr>
          </a:lstStyle>
          <a:p>
            <a:endParaRPr/>
          </a:p>
        </p:txBody>
      </p:sp>
      <p:pic>
        <p:nvPicPr>
          <p:cNvPr id="53" name="Google Shape;53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7458" y="129224"/>
            <a:ext cx="1343005" cy="3273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" name="Google Shape;54;p10"/>
          <p:cNvGrpSpPr/>
          <p:nvPr/>
        </p:nvGrpSpPr>
        <p:grpSpPr>
          <a:xfrm>
            <a:off x="8505766" y="143089"/>
            <a:ext cx="540000" cy="299605"/>
            <a:chOff x="1930026" y="4001475"/>
            <a:chExt cx="786280" cy="436246"/>
          </a:xfrm>
        </p:grpSpPr>
        <p:pic>
          <p:nvPicPr>
            <p:cNvPr id="55" name="Google Shape;55;p1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969891" y="4001475"/>
              <a:ext cx="704153" cy="4362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" name="Google Shape;56;p10">
              <a:hlinkClick r:id="rId4"/>
            </p:cNvPr>
            <p:cNvSpPr/>
            <p:nvPr/>
          </p:nvSpPr>
          <p:spPr>
            <a:xfrm>
              <a:off x="1930026" y="4001475"/>
              <a:ext cx="786280" cy="424404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E3E6EE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57" name="Google Shape;57;p10"/>
          <p:cNvSpPr txBox="1"/>
          <p:nvPr/>
        </p:nvSpPr>
        <p:spPr>
          <a:xfrm>
            <a:off x="7027613" y="155856"/>
            <a:ext cx="1434757" cy="26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ko" sz="900" b="1" i="0" u="sng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lang="ko" sz="900" b="0" i="0" u="none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fficient </a:t>
            </a:r>
            <a:r>
              <a:rPr lang="ko" sz="900" b="1" i="0" u="sng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r>
              <a:rPr lang="ko" sz="900" b="0" i="0" u="none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ultimodal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ko" sz="900" b="1" i="0" u="sng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ko" sz="900" b="0" i="0" u="none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ntelligence </a:t>
            </a:r>
            <a:r>
              <a:rPr lang="ko" sz="900" b="1" i="0" u="sng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L</a:t>
            </a:r>
            <a:r>
              <a:rPr lang="ko" sz="900" b="0" i="0" u="none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ab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7458" y="129224"/>
            <a:ext cx="1343005" cy="3273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10"/>
          <p:cNvGrpSpPr/>
          <p:nvPr/>
        </p:nvGrpSpPr>
        <p:grpSpPr>
          <a:xfrm>
            <a:off x="8505766" y="143089"/>
            <a:ext cx="540000" cy="299605"/>
            <a:chOff x="1930026" y="4001475"/>
            <a:chExt cx="786280" cy="436246"/>
          </a:xfrm>
        </p:grpSpPr>
        <p:pic>
          <p:nvPicPr>
            <p:cNvPr id="60" name="Google Shape;60;p1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969891" y="4001475"/>
              <a:ext cx="704153" cy="4362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10">
              <a:hlinkClick r:id="rId4"/>
            </p:cNvPr>
            <p:cNvSpPr/>
            <p:nvPr/>
          </p:nvSpPr>
          <p:spPr>
            <a:xfrm>
              <a:off x="1930026" y="4001475"/>
              <a:ext cx="786280" cy="424404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E3E6EE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62" name="Google Shape;62;p10"/>
          <p:cNvSpPr txBox="1"/>
          <p:nvPr/>
        </p:nvSpPr>
        <p:spPr>
          <a:xfrm>
            <a:off x="7027613" y="155856"/>
            <a:ext cx="1434757" cy="26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ko" sz="900" b="1" i="0" u="sng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lang="ko" sz="900" b="0" i="0" u="none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fficient </a:t>
            </a:r>
            <a:r>
              <a:rPr lang="ko" sz="900" b="1" i="0" u="sng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r>
              <a:rPr lang="ko" sz="900" b="0" i="0" u="none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ultimodal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ko" sz="900" b="1" i="0" u="sng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ko" sz="900" b="0" i="0" u="none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ntelligence </a:t>
            </a:r>
            <a:r>
              <a:rPr lang="ko" sz="900" b="1" i="0" u="sng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L</a:t>
            </a:r>
            <a:r>
              <a:rPr lang="ko" sz="900" b="0" i="0" u="none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ab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body" idx="1"/>
          </p:nvPr>
        </p:nvSpPr>
        <p:spPr>
          <a:xfrm>
            <a:off x="371474" y="1289303"/>
            <a:ext cx="8390333" cy="351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23850" algn="l" rtl="0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66700" algn="l" rtl="0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Arial"/>
              <a:buChar char="•"/>
              <a:defRPr sz="6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23850" algn="l" rtl="0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30200" algn="l" rtl="0">
              <a:lnSpc>
                <a:spcPct val="96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​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04800" algn="l" rtl="0">
              <a:lnSpc>
                <a:spcPct val="107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Char char="​"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488950" algn="l" rtl="0">
              <a:lnSpc>
                <a:spcPct val="87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Helvetica Neue"/>
              <a:buChar char="​"/>
              <a:defRPr sz="41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552450" algn="l" rtl="0">
              <a:lnSpc>
                <a:spcPct val="87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5100"/>
              <a:buFont typeface="Helvetica Neue"/>
              <a:buChar char="​"/>
              <a:defRPr sz="51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title"/>
          </p:nvPr>
        </p:nvSpPr>
        <p:spPr>
          <a:xfrm>
            <a:off x="371475" y="481984"/>
            <a:ext cx="8390334" cy="271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ftr" idx="11"/>
          </p:nvPr>
        </p:nvSpPr>
        <p:spPr>
          <a:xfrm>
            <a:off x="371475" y="4899671"/>
            <a:ext cx="4457700" cy="88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253DC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F88AC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78">
          <p15:clr>
            <a:srgbClr val="F26B43"/>
          </p15:clr>
        </p15:guide>
        <p15:guide id="2" pos="227">
          <p15:clr>
            <a:srgbClr val="F26B43"/>
          </p15:clr>
        </p15:guide>
        <p15:guide id="3" orient="horz" pos="807">
          <p15:clr>
            <a:srgbClr val="F26B43"/>
          </p15:clr>
        </p15:guide>
        <p15:guide id="4" orient="horz" pos="162">
          <p15:clr>
            <a:srgbClr val="F26B43"/>
          </p15:clr>
        </p15:guide>
        <p15:guide id="5" pos="5526">
          <p15:clr>
            <a:srgbClr val="F26B43"/>
          </p15:clr>
        </p15:guide>
        <p15:guide id="6" orient="horz" pos="3240">
          <p15:clr>
            <a:srgbClr val="F26B43"/>
          </p15:clr>
        </p15:guide>
        <p15:guide id="7" orient="horz" pos="486">
          <p15:clr>
            <a:srgbClr val="F26B43"/>
          </p15:clr>
        </p15:guide>
        <p15:guide id="8" pos="2934">
          <p15:clr>
            <a:srgbClr val="F26B43"/>
          </p15:clr>
        </p15:guide>
        <p15:guide id="9" pos="567">
          <p15:clr>
            <a:srgbClr val="F26B43"/>
          </p15:clr>
        </p15:guide>
        <p15:guide id="10" pos="681">
          <p15:clr>
            <a:srgbClr val="F26B43"/>
          </p15:clr>
        </p15:guide>
        <p15:guide id="11" pos="1021">
          <p15:clr>
            <a:srgbClr val="F26B43"/>
          </p15:clr>
        </p15:guide>
        <p15:guide id="12" pos="1135">
          <p15:clr>
            <a:srgbClr val="F26B43"/>
          </p15:clr>
        </p15:guide>
        <p15:guide id="13" pos="1466">
          <p15:clr>
            <a:srgbClr val="F26B43"/>
          </p15:clr>
        </p15:guide>
        <p15:guide id="14" pos="1579">
          <p15:clr>
            <a:srgbClr val="F26B43"/>
          </p15:clr>
        </p15:guide>
        <p15:guide id="15" pos="1915">
          <p15:clr>
            <a:srgbClr val="F26B43"/>
          </p15:clr>
        </p15:guide>
        <p15:guide id="16" pos="2038">
          <p15:clr>
            <a:srgbClr val="F26B43"/>
          </p15:clr>
        </p15:guide>
        <p15:guide id="17" pos="2369">
          <p15:clr>
            <a:srgbClr val="F26B43"/>
          </p15:clr>
        </p15:guide>
        <p15:guide id="18" pos="2487">
          <p15:clr>
            <a:srgbClr val="F26B43"/>
          </p15:clr>
        </p15:guide>
        <p15:guide id="19" pos="2819">
          <p15:clr>
            <a:srgbClr val="F26B43"/>
          </p15:clr>
        </p15:guide>
        <p15:guide id="20" pos="3273">
          <p15:clr>
            <a:srgbClr val="F26B43"/>
          </p15:clr>
        </p15:guide>
        <p15:guide id="21" pos="3382">
          <p15:clr>
            <a:srgbClr val="F26B43"/>
          </p15:clr>
        </p15:guide>
        <p15:guide id="22" pos="3726">
          <p15:clr>
            <a:srgbClr val="F26B43"/>
          </p15:clr>
        </p15:guide>
        <p15:guide id="23" pos="3835">
          <p15:clr>
            <a:srgbClr val="F26B43"/>
          </p15:clr>
        </p15:guide>
        <p15:guide id="24" pos="4171">
          <p15:clr>
            <a:srgbClr val="F26B43"/>
          </p15:clr>
        </p15:guide>
        <p15:guide id="25" pos="4285">
          <p15:clr>
            <a:srgbClr val="F26B43"/>
          </p15:clr>
        </p15:guide>
        <p15:guide id="26" pos="4621">
          <p15:clr>
            <a:srgbClr val="F26B43"/>
          </p15:clr>
        </p15:guide>
        <p15:guide id="27" pos="4739">
          <p15:clr>
            <a:srgbClr val="F26B43"/>
          </p15:clr>
        </p15:guide>
        <p15:guide id="28" pos="5071">
          <p15:clr>
            <a:srgbClr val="F26B43"/>
          </p15:clr>
        </p15:guide>
        <p15:guide id="29" pos="5189">
          <p15:clr>
            <a:srgbClr val="F26B43"/>
          </p15:clr>
        </p15:guide>
        <p15:guide id="30" pos="5760">
          <p15:clr>
            <a:srgbClr val="F26B43"/>
          </p15:clr>
        </p15:guide>
        <p15:guide id="31">
          <p15:clr>
            <a:srgbClr val="F26B43"/>
          </p15:clr>
        </p15:guide>
        <p15:guide id="32" orient="horz" pos="323">
          <p15:clr>
            <a:srgbClr val="F26B43"/>
          </p15:clr>
        </p15:guide>
        <p15:guide id="33" orient="horz" pos="646">
          <p15:clr>
            <a:srgbClr val="F26B43"/>
          </p15:clr>
        </p15:guide>
        <p15:guide id="34" orient="horz" pos="973">
          <p15:clr>
            <a:srgbClr val="F26B43"/>
          </p15:clr>
        </p15:guide>
        <p15:guide id="35" orient="horz" pos="1135">
          <p15:clr>
            <a:srgbClr val="F26B43"/>
          </p15:clr>
        </p15:guide>
        <p15:guide id="36" orient="horz" pos="1296">
          <p15:clr>
            <a:srgbClr val="F26B43"/>
          </p15:clr>
        </p15:guide>
        <p15:guide id="37" orient="horz" pos="1457">
          <p15:clr>
            <a:srgbClr val="F26B43"/>
          </p15:clr>
        </p15:guide>
        <p15:guide id="38" orient="horz" pos="1619">
          <p15:clr>
            <a:srgbClr val="F26B43"/>
          </p15:clr>
        </p15:guide>
        <p15:guide id="39" orient="horz">
          <p15:clr>
            <a:srgbClr val="F26B43"/>
          </p15:clr>
        </p15:guide>
        <p15:guide id="40" orient="horz" pos="1781">
          <p15:clr>
            <a:srgbClr val="F26B43"/>
          </p15:clr>
        </p15:guide>
        <p15:guide id="41" orient="horz" pos="1942">
          <p15:clr>
            <a:srgbClr val="F26B43"/>
          </p15:clr>
        </p15:guide>
        <p15:guide id="42" orient="horz" pos="2103">
          <p15:clr>
            <a:srgbClr val="F26B43"/>
          </p15:clr>
        </p15:guide>
        <p15:guide id="43" orient="horz" pos="2269">
          <p15:clr>
            <a:srgbClr val="F26B43"/>
          </p15:clr>
        </p15:guide>
        <p15:guide id="44" orient="horz" pos="2431">
          <p15:clr>
            <a:srgbClr val="F26B43"/>
          </p15:clr>
        </p15:guide>
        <p15:guide id="45" orient="horz" pos="2592">
          <p15:clr>
            <a:srgbClr val="F26B43"/>
          </p15:clr>
        </p15:guide>
        <p15:guide id="46" orient="horz" pos="2753">
          <p15:clr>
            <a:srgbClr val="F26B43"/>
          </p15:clr>
        </p15:guide>
        <p15:guide id="47" orient="horz" pos="291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>
            <a:spLocks noGrp="1"/>
          </p:cNvSpPr>
          <p:nvPr>
            <p:ph type="ftr" idx="11"/>
          </p:nvPr>
        </p:nvSpPr>
        <p:spPr>
          <a:xfrm>
            <a:off x="371475" y="4899671"/>
            <a:ext cx="4457700" cy="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endParaRPr/>
          </a:p>
        </p:txBody>
      </p:sp>
      <p:sp>
        <p:nvSpPr>
          <p:cNvPr id="68" name="Google Shape;68;p1"/>
          <p:cNvSpPr txBox="1">
            <a:spLocks noGrp="1"/>
          </p:cNvSpPr>
          <p:nvPr>
            <p:ph type="body" idx="1"/>
          </p:nvPr>
        </p:nvSpPr>
        <p:spPr>
          <a:xfrm>
            <a:off x="378591" y="1464869"/>
            <a:ext cx="8344785" cy="601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None/>
            </a:pPr>
            <a:r>
              <a:rPr lang="ko" dirty="0"/>
              <a:t>KV Cache Quantization</a:t>
            </a:r>
            <a:endParaRPr dirty="0"/>
          </a:p>
        </p:txBody>
      </p:sp>
      <p:sp>
        <p:nvSpPr>
          <p:cNvPr id="69" name="Google Shape;69;p1"/>
          <p:cNvSpPr txBox="1">
            <a:spLocks noGrp="1"/>
          </p:cNvSpPr>
          <p:nvPr>
            <p:ph type="body" idx="2"/>
          </p:nvPr>
        </p:nvSpPr>
        <p:spPr>
          <a:xfrm>
            <a:off x="378591" y="806396"/>
            <a:ext cx="8344785" cy="617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C5BFF"/>
              </a:buClr>
              <a:buSzPts val="2400"/>
              <a:buNone/>
            </a:pPr>
            <a:endParaRPr dirty="0"/>
          </a:p>
        </p:txBody>
      </p:sp>
      <p:sp>
        <p:nvSpPr>
          <p:cNvPr id="70" name="Google Shape;70;p1"/>
          <p:cNvSpPr txBox="1">
            <a:spLocks noGrp="1"/>
          </p:cNvSpPr>
          <p:nvPr>
            <p:ph type="body" idx="3"/>
          </p:nvPr>
        </p:nvSpPr>
        <p:spPr>
          <a:xfrm>
            <a:off x="378591" y="3442944"/>
            <a:ext cx="8344785" cy="89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ko"/>
              <a:t>Dongwon Lee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ko"/>
              <a:t>April, 14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 txBox="1">
            <a:spLocks noGrp="1"/>
          </p:cNvSpPr>
          <p:nvPr>
            <p:ph type="title"/>
          </p:nvPr>
        </p:nvSpPr>
        <p:spPr>
          <a:xfrm>
            <a:off x="371475" y="299837"/>
            <a:ext cx="83904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None/>
            </a:pPr>
            <a:r>
              <a:rPr lang="ko"/>
              <a:t>Last Week</a:t>
            </a:r>
            <a:endParaRPr/>
          </a:p>
        </p:txBody>
      </p:sp>
      <p:sp>
        <p:nvSpPr>
          <p:cNvPr id="77" name="Google Shape;77;p2"/>
          <p:cNvSpPr txBox="1">
            <a:spLocks noGrp="1"/>
          </p:cNvSpPr>
          <p:nvPr>
            <p:ph type="body" idx="1"/>
          </p:nvPr>
        </p:nvSpPr>
        <p:spPr>
          <a:xfrm>
            <a:off x="371475" y="970022"/>
            <a:ext cx="8390334" cy="351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 indent="-1270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ko" sz="1800" b="1" dirty="0"/>
              <a:t>Last Meeting Summary</a:t>
            </a:r>
            <a:endParaRPr sz="1800" b="1" dirty="0"/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Char char="•"/>
            </a:pPr>
            <a:r>
              <a:rPr lang="ko" sz="120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 White Paper on Neural Network Quantization 전반부(~Range Setting)</a:t>
            </a:r>
            <a:r>
              <a:rPr lang="en-US" altLang="ko-KR" sz="120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, PTQ~</a:t>
            </a:r>
            <a:endParaRPr sz="1200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Char char="•"/>
            </a:pPr>
            <a:r>
              <a:rPr lang="ko" sz="120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SnapKV</a:t>
            </a:r>
            <a:endParaRPr sz="1800" b="1" dirty="0"/>
          </a:p>
          <a:p>
            <a:pPr marL="127000" lvl="0" indent="-1270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ko" sz="1800" b="1" dirty="0"/>
              <a:t>Action Items</a:t>
            </a:r>
            <a:endParaRPr sz="1200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Char char="•"/>
            </a:pPr>
            <a:r>
              <a:rPr lang="ko" sz="120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 White Paper on Neural Network Quantization 보완</a:t>
            </a:r>
            <a:endParaRPr sz="1200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Char char="•"/>
            </a:pPr>
            <a:r>
              <a:rPr lang="ko" sz="120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Multimodal</a:t>
            </a:r>
            <a:r>
              <a:rPr lang="ko" sz="120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KV cache </a:t>
            </a:r>
            <a:r>
              <a:rPr lang="ko" sz="120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quantization</a:t>
            </a:r>
            <a:r>
              <a:rPr lang="ko" sz="120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관련 Paper</a:t>
            </a:r>
            <a:endParaRPr sz="1500" dirty="0"/>
          </a:p>
        </p:txBody>
      </p:sp>
      <p:sp>
        <p:nvSpPr>
          <p:cNvPr id="78" name="Google Shape;78;p2"/>
          <p:cNvSpPr txBox="1">
            <a:spLocks noGrp="1"/>
          </p:cNvSpPr>
          <p:nvPr>
            <p:ph type="subTitle" idx="2"/>
          </p:nvPr>
        </p:nvSpPr>
        <p:spPr>
          <a:xfrm>
            <a:off x="370642" y="629372"/>
            <a:ext cx="8391300" cy="2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lang="ko"/>
              <a:t>Action Items</a:t>
            </a:r>
            <a:endParaRPr/>
          </a:p>
        </p:txBody>
      </p:sp>
      <p:sp>
        <p:nvSpPr>
          <p:cNvPr id="79" name="Google Shape;79;p2"/>
          <p:cNvSpPr txBox="1">
            <a:spLocks noGrp="1"/>
          </p:cNvSpPr>
          <p:nvPr>
            <p:ph type="ftr" idx="11"/>
          </p:nvPr>
        </p:nvSpPr>
        <p:spPr>
          <a:xfrm>
            <a:off x="46246" y="4995068"/>
            <a:ext cx="4465540" cy="121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253DC"/>
              </a:buClr>
              <a:buSzPts val="8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"/>
          <p:cNvSpPr txBox="1">
            <a:spLocks noGrp="1"/>
          </p:cNvSpPr>
          <p:nvPr>
            <p:ph type="ftr" idx="11"/>
          </p:nvPr>
        </p:nvSpPr>
        <p:spPr>
          <a:xfrm>
            <a:off x="371475" y="4899671"/>
            <a:ext cx="4457700" cy="88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endParaRPr/>
          </a:p>
        </p:txBody>
      </p:sp>
      <p:sp>
        <p:nvSpPr>
          <p:cNvPr id="86" name="Google Shape;86;p3"/>
          <p:cNvSpPr txBox="1">
            <a:spLocks noGrp="1"/>
          </p:cNvSpPr>
          <p:nvPr>
            <p:ph type="body" idx="1"/>
          </p:nvPr>
        </p:nvSpPr>
        <p:spPr>
          <a:xfrm>
            <a:off x="993039" y="1255688"/>
            <a:ext cx="7533027" cy="2932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71450" lvl="0" indent="-17145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FontTx/>
              <a:buChar char="-"/>
            </a:pPr>
            <a:r>
              <a:rPr lang="en-US" altLang="ko-KR" sz="120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Post Training Quantization(PTQ)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FontTx/>
              <a:buChar char="-"/>
            </a:pPr>
            <a:r>
              <a:rPr lang="en-US" altLang="ko-KR" sz="120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Multimodal KV Cache Quantization</a:t>
            </a:r>
            <a:endParaRPr lang="ko-KR" altLang="en-US" sz="1200" b="0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7" name="Google Shape;87;p3"/>
          <p:cNvSpPr txBox="1">
            <a:spLocks noGrp="1"/>
          </p:cNvSpPr>
          <p:nvPr>
            <p:ph type="body" idx="2"/>
          </p:nvPr>
        </p:nvSpPr>
        <p:spPr>
          <a:xfrm>
            <a:off x="570310" y="698059"/>
            <a:ext cx="7955756" cy="557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C5BFF"/>
              </a:buClr>
              <a:buSzPts val="3000"/>
              <a:buNone/>
            </a:pPr>
            <a:r>
              <a:rPr lang="ko"/>
              <a:t>Agenda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5fa42d7dc_0_192"/>
          <p:cNvSpPr txBox="1">
            <a:spLocks noGrp="1"/>
          </p:cNvSpPr>
          <p:nvPr>
            <p:ph type="ftr" idx="11"/>
          </p:nvPr>
        </p:nvSpPr>
        <p:spPr>
          <a:xfrm>
            <a:off x="371475" y="4899671"/>
            <a:ext cx="4457700" cy="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endParaRPr/>
          </a:p>
        </p:txBody>
      </p:sp>
      <p:sp>
        <p:nvSpPr>
          <p:cNvPr id="93" name="Google Shape;93;g3f5fa42d7dc_0_192"/>
          <p:cNvSpPr txBox="1">
            <a:spLocks noGrp="1"/>
          </p:cNvSpPr>
          <p:nvPr>
            <p:ph type="body" idx="1"/>
          </p:nvPr>
        </p:nvSpPr>
        <p:spPr>
          <a:xfrm>
            <a:off x="378591" y="1464869"/>
            <a:ext cx="8344800" cy="6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ko-KR" altLang="ko-KR" dirty="0"/>
              <a:t>Post </a:t>
            </a:r>
            <a:r>
              <a:rPr lang="ko-KR" altLang="ko-KR" dirty="0" err="1"/>
              <a:t>Training</a:t>
            </a:r>
            <a:r>
              <a:rPr lang="ko-KR" altLang="ko-KR" dirty="0"/>
              <a:t> </a:t>
            </a:r>
            <a:r>
              <a:rPr lang="ko-KR" altLang="ko-KR" dirty="0" err="1"/>
              <a:t>Quantization</a:t>
            </a:r>
            <a:r>
              <a:rPr lang="en-US" altLang="ko-KR" dirty="0"/>
              <a:t>(PTQ)</a:t>
            </a:r>
            <a:r>
              <a:rPr lang="en-US" altLang="ko" dirty="0"/>
              <a:t> </a:t>
            </a:r>
            <a:endParaRPr dirty="0"/>
          </a:p>
        </p:txBody>
      </p:sp>
      <p:sp>
        <p:nvSpPr>
          <p:cNvPr id="94" name="Google Shape;94;g3f5fa42d7dc_0_192"/>
          <p:cNvSpPr txBox="1">
            <a:spLocks noGrp="1"/>
          </p:cNvSpPr>
          <p:nvPr>
            <p:ph type="body" idx="2"/>
          </p:nvPr>
        </p:nvSpPr>
        <p:spPr>
          <a:xfrm>
            <a:off x="378591" y="806396"/>
            <a:ext cx="83448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C5BFF"/>
              </a:buClr>
              <a:buSzPts val="2400"/>
              <a:buNone/>
            </a:pPr>
            <a:endParaRPr/>
          </a:p>
        </p:txBody>
      </p:sp>
      <p:sp>
        <p:nvSpPr>
          <p:cNvPr id="95" name="Google Shape;95;g3f5fa42d7dc_0_192"/>
          <p:cNvSpPr txBox="1">
            <a:spLocks noGrp="1"/>
          </p:cNvSpPr>
          <p:nvPr>
            <p:ph type="body" idx="3"/>
          </p:nvPr>
        </p:nvSpPr>
        <p:spPr>
          <a:xfrm>
            <a:off x="378591" y="3442944"/>
            <a:ext cx="8344800" cy="8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BBF04894-42A4-631F-8934-8B6A2F72A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77;p2">
            <a:extLst>
              <a:ext uri="{FF2B5EF4-FFF2-40B4-BE49-F238E27FC236}">
                <a16:creationId xmlns:a16="http://schemas.microsoft.com/office/drawing/2014/main" id="{F6E26BB6-C8F7-CF64-06DA-F3D991C6C9D1}"/>
              </a:ext>
            </a:extLst>
          </p:cNvPr>
          <p:cNvSpPr txBox="1">
            <a:spLocks/>
          </p:cNvSpPr>
          <p:nvPr/>
        </p:nvSpPr>
        <p:spPr>
          <a:xfrm>
            <a:off x="4773757" y="970022"/>
            <a:ext cx="4140311" cy="3737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•"/>
              <a:defRPr sz="1500" b="0" i="0" u="none" strike="noStrike" cap="none" spc="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 spc="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sz="1100" b="0" i="0" u="none" strike="noStrike" cap="none" spc="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sz="1100" b="0" i="0" u="none" strike="noStrike" cap="none" spc="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23850" algn="l" rtl="0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•"/>
              <a:defRPr sz="1500" b="0" i="0" u="none" strike="noStrike" cap="none" spc="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96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​"/>
              <a:defRPr sz="1600" b="0" i="0" u="none" strike="noStrike" cap="none" spc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17500" algn="l" rtl="0">
              <a:lnSpc>
                <a:spcPct val="107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​"/>
              <a:defRPr sz="1200" b="0" i="0" u="none" strike="noStrike" cap="none" spc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17500" algn="l" rtl="0">
              <a:lnSpc>
                <a:spcPct val="87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​"/>
              <a:defRPr sz="4100" b="0" i="0" u="none" strike="noStrike" cap="none" spc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17500" algn="l" rtl="0">
              <a:lnSpc>
                <a:spcPct val="87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​"/>
              <a:defRPr sz="5100" b="0" i="0" u="none" strike="noStrike" cap="none" spc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127000" marR="0" lvl="0" indent="-127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" altLang="ko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Uniform </a:t>
            </a:r>
            <a:r>
              <a:rPr lang="en-US" altLang="ko" sz="1800" b="1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affine</a:t>
            </a:r>
            <a:r>
              <a:rPr kumimoji="0" lang="en" altLang="ko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Quantization</a:t>
            </a:r>
          </a:p>
          <a:p>
            <a:pPr marL="127000" lvl="0" indent="-1270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None/>
              <a:defRPr/>
            </a:pPr>
            <a:r>
              <a:rPr lang="en" altLang="ko-KR" sz="140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Mapped to discrete integer</a:t>
            </a:r>
            <a:endParaRPr kumimoji="0" lang="en" altLang="ko-KR" sz="1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27000" lvl="0" indent="-1270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None/>
              <a:defRPr/>
            </a:pPr>
            <a:endParaRPr lang="en" altLang="ko-KR" sz="140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127000" lvl="0" indent="-1270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None/>
              <a:defRPr/>
            </a:pPr>
            <a:endParaRPr kumimoji="0" lang="en" altLang="ko-KR" sz="1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27000" lvl="0" indent="-1270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None/>
              <a:defRPr/>
            </a:pPr>
            <a:endParaRPr lang="en" altLang="ko-KR" sz="140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127000" lvl="0" indent="-1270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None/>
              <a:defRPr/>
            </a:pPr>
            <a:endParaRPr kumimoji="0" lang="en" altLang="ko-KR" sz="1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27000" lvl="0" indent="-1270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None/>
              <a:defRPr/>
            </a:pPr>
            <a:endParaRPr lang="en" altLang="ko-KR" sz="140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127000" lvl="0" indent="-1270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None/>
              <a:defRPr/>
            </a:pPr>
            <a:endParaRPr kumimoji="0" lang="en" altLang="ko-KR" sz="1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27000" lvl="0" indent="-1270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None/>
              <a:defRPr/>
            </a:pPr>
            <a:endParaRPr kumimoji="0" lang="en" altLang="ko-KR" sz="1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27000" lvl="0" indent="-1270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None/>
              <a:defRPr/>
            </a:pPr>
            <a:r>
              <a:rPr kumimoji="0" lang="en" altLang="ko-KR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Dequantization</a:t>
            </a:r>
          </a:p>
          <a:p>
            <a:pPr marL="609600" lvl="1" indent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ts val="1200"/>
              <a:buNone/>
            </a:pPr>
            <a:endParaRPr lang="en" altLang="ko" sz="1200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" name="Google Shape;76;p2">
            <a:extLst>
              <a:ext uri="{FF2B5EF4-FFF2-40B4-BE49-F238E27FC236}">
                <a16:creationId xmlns:a16="http://schemas.microsoft.com/office/drawing/2014/main" id="{7EB818AD-4334-6EAB-F881-94FFE7B908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1475" y="299837"/>
            <a:ext cx="83904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None/>
            </a:pPr>
            <a:r>
              <a:rPr lang="en-US" altLang="ko" dirty="0"/>
              <a:t>Quantization Fundamentals</a:t>
            </a:r>
            <a:endParaRPr dirty="0"/>
          </a:p>
        </p:txBody>
      </p:sp>
      <p:sp>
        <p:nvSpPr>
          <p:cNvPr id="77" name="Google Shape;77;p2">
            <a:extLst>
              <a:ext uri="{FF2B5EF4-FFF2-40B4-BE49-F238E27FC236}">
                <a16:creationId xmlns:a16="http://schemas.microsoft.com/office/drawing/2014/main" id="{82DC4578-F28C-8663-C18E-F55E638D79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1475" y="970022"/>
            <a:ext cx="4140311" cy="351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1800"/>
              <a:buNone/>
            </a:pPr>
            <a:r>
              <a:rPr lang="en-US" altLang="ko" sz="1800" b="1" dirty="0"/>
              <a:t>M</a:t>
            </a:r>
            <a:r>
              <a:rPr lang="en" altLang="ko" sz="1800" b="1" dirty="0" err="1"/>
              <a:t>atrix</a:t>
            </a:r>
            <a:r>
              <a:rPr lang="en" altLang="ko" sz="1800" b="1" dirty="0"/>
              <a:t>-multiply logic in neural network accelerator hardware</a:t>
            </a:r>
            <a:endParaRPr lang="en" altLang="ko-KR" sz="1800" b="1" dirty="0"/>
          </a:p>
        </p:txBody>
      </p:sp>
      <p:sp>
        <p:nvSpPr>
          <p:cNvPr id="78" name="Google Shape;78;p2">
            <a:extLst>
              <a:ext uri="{FF2B5EF4-FFF2-40B4-BE49-F238E27FC236}">
                <a16:creationId xmlns:a16="http://schemas.microsoft.com/office/drawing/2014/main" id="{49F6412D-F6B7-22C8-096C-C6A480ABCA79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70642" y="629372"/>
            <a:ext cx="8391300" cy="2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>
              <a:spcBef>
                <a:spcPts val="0"/>
              </a:spcBef>
            </a:pPr>
            <a:r>
              <a:rPr lang="en-US" altLang="ko" dirty="0"/>
              <a:t>Quantization, Round-to-nearest</a:t>
            </a:r>
            <a:endParaRPr dirty="0"/>
          </a:p>
        </p:txBody>
      </p:sp>
      <p:sp>
        <p:nvSpPr>
          <p:cNvPr id="79" name="Google Shape;79;p2">
            <a:extLst>
              <a:ext uri="{FF2B5EF4-FFF2-40B4-BE49-F238E27FC236}">
                <a16:creationId xmlns:a16="http://schemas.microsoft.com/office/drawing/2014/main" id="{FABCC119-06C0-3628-7A71-B24393DF98A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6246" y="4995068"/>
            <a:ext cx="4465540" cy="121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253DC"/>
              </a:buClr>
              <a:buSzPts val="800"/>
              <a:buFont typeface="Arial"/>
              <a:buNone/>
            </a:pPr>
            <a:endParaRPr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99BCF90-D9F1-E6F5-63B0-265C93103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6912" y="1871093"/>
            <a:ext cx="2794000" cy="8890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DC0C853-672C-F753-0DDB-C094D8AF0B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6912" y="3522520"/>
            <a:ext cx="2908300" cy="8255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1DA042D-EF92-EDCA-C07D-5D075DECF9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701518"/>
            <a:ext cx="4511786" cy="235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530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5fa42d7dc_0_541"/>
          <p:cNvSpPr txBox="1">
            <a:spLocks noGrp="1"/>
          </p:cNvSpPr>
          <p:nvPr>
            <p:ph type="title"/>
          </p:nvPr>
        </p:nvSpPr>
        <p:spPr>
          <a:xfrm>
            <a:off x="371475" y="301687"/>
            <a:ext cx="83904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None/>
            </a:pPr>
            <a:r>
              <a:rPr lang="ko"/>
              <a:t>Post Training Quantization(PTQ)</a:t>
            </a:r>
            <a:endParaRPr/>
          </a:p>
        </p:txBody>
      </p:sp>
      <p:sp>
        <p:nvSpPr>
          <p:cNvPr id="218" name="Google Shape;218;g3f5fa42d7dc_0_541"/>
          <p:cNvSpPr txBox="1">
            <a:spLocks noGrp="1"/>
          </p:cNvSpPr>
          <p:nvPr>
            <p:ph type="subTitle" idx="2"/>
          </p:nvPr>
        </p:nvSpPr>
        <p:spPr>
          <a:xfrm>
            <a:off x="370642" y="743881"/>
            <a:ext cx="8391300" cy="20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lang="en-US" dirty="0"/>
              <a:t>Pipeline</a:t>
            </a:r>
            <a:endParaRPr dirty="0"/>
          </a:p>
        </p:txBody>
      </p:sp>
      <p:sp>
        <p:nvSpPr>
          <p:cNvPr id="219" name="Google Shape;219;g3f5fa42d7dc_0_541"/>
          <p:cNvSpPr txBox="1"/>
          <p:nvPr/>
        </p:nvSpPr>
        <p:spPr>
          <a:xfrm>
            <a:off x="11151" y="4924600"/>
            <a:ext cx="4580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20" name="Google Shape;220;g3f5fa42d7dc_0_541" title="스크린샷 2026-07-30 오후 9.50.0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700" y="1430682"/>
            <a:ext cx="9143999" cy="27933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78213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5fa42d7dc_0_507"/>
          <p:cNvSpPr txBox="1">
            <a:spLocks noGrp="1"/>
          </p:cNvSpPr>
          <p:nvPr>
            <p:ph type="title"/>
          </p:nvPr>
        </p:nvSpPr>
        <p:spPr>
          <a:xfrm>
            <a:off x="371475" y="301687"/>
            <a:ext cx="8390400" cy="9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None/>
            </a:pPr>
            <a:r>
              <a:rPr lang="ko" dirty="0"/>
              <a:t>Cross-Linear Equalization</a:t>
            </a:r>
            <a:r>
              <a:rPr lang="ko" altLang="en-US" dirty="0"/>
              <a:t> </a:t>
            </a:r>
            <a:r>
              <a:rPr lang="ko" dirty="0"/>
              <a:t>(CLE)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None/>
            </a:pPr>
            <a:endParaRPr dirty="0"/>
          </a:p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None/>
            </a:pPr>
            <a:endParaRPr dirty="0"/>
          </a:p>
        </p:txBody>
      </p:sp>
      <p:sp>
        <p:nvSpPr>
          <p:cNvPr id="176" name="Google Shape;176;g3f5fa42d7dc_0_507"/>
          <p:cNvSpPr txBox="1">
            <a:spLocks noGrp="1"/>
          </p:cNvSpPr>
          <p:nvPr>
            <p:ph type="body" idx="1"/>
          </p:nvPr>
        </p:nvSpPr>
        <p:spPr>
          <a:xfrm>
            <a:off x="371475" y="970031"/>
            <a:ext cx="8705400" cy="40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 indent="-127000">
              <a:spcBef>
                <a:spcPts val="0"/>
              </a:spcBef>
              <a:buClr>
                <a:srgbClr val="0B2742"/>
              </a:buClr>
              <a:buSzPts val="1800"/>
              <a:defRPr/>
            </a:pPr>
            <a:r>
              <a:rPr lang="en-US" altLang="ko" sz="1800" b="1" dirty="0"/>
              <a:t>Goal</a:t>
            </a:r>
            <a:r>
              <a:rPr lang="en-US" altLang="ko-KR" sz="1800" dirty="0">
                <a:solidFill>
                  <a:srgbClr val="0B2742"/>
                </a:solidFill>
              </a:rPr>
              <a:t>: Better </a:t>
            </a:r>
            <a:r>
              <a:rPr lang="en-US" altLang="ko-KR" sz="1800" b="1" dirty="0">
                <a:solidFill>
                  <a:srgbClr val="0B2742"/>
                </a:solidFill>
              </a:rPr>
              <a:t>weight</a:t>
            </a:r>
            <a:r>
              <a:rPr lang="en-US" altLang="ko-KR" sz="1800" dirty="0">
                <a:solidFill>
                  <a:srgbClr val="0B2742"/>
                </a:solidFill>
              </a:rPr>
              <a:t> distribution </a:t>
            </a:r>
            <a:r>
              <a:rPr lang="en-US" altLang="ko-KR" sz="1800" b="1" dirty="0">
                <a:solidFill>
                  <a:srgbClr val="0B2742"/>
                </a:solidFill>
              </a:rPr>
              <a:t>before quantization</a:t>
            </a:r>
          </a:p>
          <a:p>
            <a:pPr marL="584200" lvl="1" indent="-127000">
              <a:spcBef>
                <a:spcPts val="0"/>
              </a:spcBef>
              <a:buClr>
                <a:srgbClr val="0B2742"/>
              </a:buClr>
              <a:buSzPts val="1800"/>
              <a:defRPr/>
            </a:pPr>
            <a:r>
              <a:rPr lang="en" altLang="ko" sz="1700" dirty="0"/>
              <a:t>Reduced dynamic range</a:t>
            </a:r>
          </a:p>
          <a:p>
            <a:pPr marL="584200" lvl="1" indent="-127000">
              <a:spcBef>
                <a:spcPts val="0"/>
              </a:spcBef>
              <a:buClr>
                <a:srgbClr val="0B2742"/>
              </a:buClr>
              <a:buSzPts val="1800"/>
              <a:defRPr/>
            </a:pPr>
            <a:endParaRPr lang="en" altLang="ko" sz="1700" b="1" dirty="0"/>
          </a:p>
          <a:p>
            <a:pPr marL="127000" lvl="0" indent="-127000">
              <a:spcBef>
                <a:spcPts val="0"/>
              </a:spcBef>
              <a:buSzPts val="1800"/>
            </a:pPr>
            <a:r>
              <a:rPr lang="en" sz="1800" b="1" dirty="0"/>
              <a:t>Method</a:t>
            </a:r>
            <a:r>
              <a:rPr lang="en" sz="1800" dirty="0"/>
              <a:t>: </a:t>
            </a:r>
            <a:r>
              <a:rPr lang="en" sz="1800" dirty="0" err="1"/>
              <a:t>Reshap</a:t>
            </a:r>
            <a:r>
              <a:rPr lang="en-US" sz="1800" dirty="0" err="1"/>
              <a:t>ing</a:t>
            </a:r>
            <a:r>
              <a:rPr lang="en-US" altLang="ko-KR" sz="1800" dirty="0"/>
              <a:t> Weight</a:t>
            </a:r>
            <a:r>
              <a:rPr lang="en" sz="1800" dirty="0"/>
              <a:t> </a:t>
            </a:r>
            <a:r>
              <a:rPr lang="en" altLang="ko-KR" sz="1600" dirty="0"/>
              <a:t>Distribution </a:t>
            </a:r>
            <a:endParaRPr lang="en" dirty="0"/>
          </a:p>
          <a:p>
            <a:pPr marL="254000" lvl="1" indent="-1143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</a:pPr>
            <a:r>
              <a:rPr lang="ko" dirty="0"/>
              <a:t>Equalizing </a:t>
            </a:r>
            <a:r>
              <a:rPr lang="ko" b="1" dirty="0"/>
              <a:t>dynamic ranges </a:t>
            </a:r>
            <a:r>
              <a:rPr lang="ko" dirty="0"/>
              <a:t>across consecutive layers</a:t>
            </a:r>
            <a:endParaRPr lang="en-US" altLang="ko" dirty="0"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7" name="Google Shape;177;g3f5fa42d7dc_0_507"/>
          <p:cNvSpPr txBox="1">
            <a:spLocks noGrp="1"/>
          </p:cNvSpPr>
          <p:nvPr>
            <p:ph type="subTitle" idx="2"/>
          </p:nvPr>
        </p:nvSpPr>
        <p:spPr>
          <a:xfrm>
            <a:off x="370642" y="640457"/>
            <a:ext cx="8391300" cy="2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lang="ko" dirty="0"/>
              <a:t>Post Training Quantization(PTQ)</a:t>
            </a:r>
            <a:endParaRPr dirty="0"/>
          </a:p>
        </p:txBody>
      </p:sp>
      <p:sp>
        <p:nvSpPr>
          <p:cNvPr id="178" name="Google Shape;178;g3f5fa42d7dc_0_507"/>
          <p:cNvSpPr txBox="1"/>
          <p:nvPr/>
        </p:nvSpPr>
        <p:spPr>
          <a:xfrm>
            <a:off x="11150" y="4924692"/>
            <a:ext cx="8226300" cy="223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spAutoFit/>
          </a:bodyPr>
          <a:lstStyle/>
          <a:p>
            <a:pPr lvl="0">
              <a:buSzPts val="900"/>
            </a:pPr>
            <a:r>
              <a:rPr lang="ko-KR" altLang="ko-KR" sz="1000" dirty="0">
                <a:highlight>
                  <a:srgbClr val="FFFFFF"/>
                </a:highlight>
              </a:rPr>
              <a:t>Qualcomm AIMET(AI </a:t>
            </a:r>
            <a:r>
              <a:rPr lang="ko-KR" altLang="ko-KR" sz="1000" dirty="0" err="1">
                <a:highlight>
                  <a:srgbClr val="FFFFFF"/>
                </a:highlight>
              </a:rPr>
              <a:t>Model</a:t>
            </a:r>
            <a:r>
              <a:rPr lang="ko-KR" altLang="ko-KR" sz="1000" dirty="0">
                <a:highlight>
                  <a:srgbClr val="FFFFFF"/>
                </a:highlight>
              </a:rPr>
              <a:t> </a:t>
            </a:r>
            <a:r>
              <a:rPr lang="ko-KR" altLang="ko-KR" sz="1000" dirty="0" err="1">
                <a:highlight>
                  <a:srgbClr val="FFFFFF"/>
                </a:highlight>
              </a:rPr>
              <a:t>Efficiency</a:t>
            </a:r>
            <a:r>
              <a:rPr lang="ko-KR" altLang="ko-KR" sz="1000" dirty="0">
                <a:highlight>
                  <a:srgbClr val="FFFFFF"/>
                </a:highlight>
              </a:rPr>
              <a:t> </a:t>
            </a:r>
            <a:r>
              <a:rPr lang="ko-KR" altLang="ko-KR" sz="1000" dirty="0" err="1">
                <a:highlight>
                  <a:srgbClr val="FFFFFF"/>
                </a:highlight>
              </a:rPr>
              <a:t>Toolkit</a:t>
            </a:r>
            <a:r>
              <a:rPr lang="ko-KR" altLang="ko-KR" sz="1000" dirty="0">
                <a:highlight>
                  <a:srgbClr val="FFFFFF"/>
                </a:highlight>
              </a:rPr>
              <a:t>)</a:t>
            </a:r>
            <a:r>
              <a:rPr lang="ko-KR" altLang="en-US" sz="1000" dirty="0">
                <a:highlight>
                  <a:srgbClr val="FFFFFF"/>
                </a:highlight>
              </a:rPr>
              <a:t> </a:t>
            </a:r>
            <a:r>
              <a:rPr lang="en-US" altLang="ko-KR" sz="1000" dirty="0">
                <a:highlight>
                  <a:srgbClr val="FFFFFF"/>
                </a:highlight>
              </a:rPr>
              <a:t>Docs</a:t>
            </a:r>
            <a:endParaRPr sz="9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CDD75D8-1521-8A75-AEDC-FC6CE0673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275" y="2365419"/>
            <a:ext cx="5951450" cy="227884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6ED3E6B-88B1-EEC1-1C2A-9A2AA31481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0656" y="1355161"/>
            <a:ext cx="331819" cy="35470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5DA5324-BBEA-8CB7-3067-4EE15AF1DA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2475" y="1316164"/>
            <a:ext cx="4181443" cy="40437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C2C91AA-5701-6382-9988-B1ECE05C6A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0656" y="1844041"/>
            <a:ext cx="406400" cy="4191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13CE183-4DF5-A441-2AA0-AD10D9F81D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2475" y="1867277"/>
            <a:ext cx="3984400" cy="3727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f61e6a68b5_0_69"/>
          <p:cNvSpPr txBox="1">
            <a:spLocks noGrp="1"/>
          </p:cNvSpPr>
          <p:nvPr>
            <p:ph type="title"/>
          </p:nvPr>
        </p:nvSpPr>
        <p:spPr>
          <a:xfrm>
            <a:off x="371475" y="301687"/>
            <a:ext cx="8390400" cy="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None/>
            </a:pPr>
            <a:r>
              <a:rPr lang="ko" dirty="0"/>
              <a:t>SmoothQuant</a:t>
            </a:r>
            <a:r>
              <a:rPr lang="en-US" altLang="ko" dirty="0"/>
              <a:t> (</a:t>
            </a:r>
            <a:r>
              <a:rPr lang="en-US" altLang="ko" b="0" dirty="0">
                <a:solidFill>
                  <a:schemeClr val="tx2"/>
                </a:solidFill>
              </a:rPr>
              <a:t>W8A8</a:t>
            </a:r>
            <a:r>
              <a:rPr lang="en-US" altLang="ko" dirty="0"/>
              <a:t>)</a:t>
            </a:r>
            <a:endParaRPr dirty="0"/>
          </a:p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None/>
            </a:pPr>
            <a:endParaRPr dirty="0"/>
          </a:p>
        </p:txBody>
      </p:sp>
      <p:sp>
        <p:nvSpPr>
          <p:cNvPr id="254" name="Google Shape;254;g3f61e6a68b5_0_69"/>
          <p:cNvSpPr txBox="1">
            <a:spLocks noGrp="1"/>
          </p:cNvSpPr>
          <p:nvPr>
            <p:ph type="subTitle" idx="2"/>
          </p:nvPr>
        </p:nvSpPr>
        <p:spPr>
          <a:xfrm>
            <a:off x="370642" y="640532"/>
            <a:ext cx="8391300" cy="20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indent="0">
              <a:spcBef>
                <a:spcPts val="0"/>
              </a:spcBef>
            </a:pPr>
            <a:r>
              <a:rPr lang="en" altLang="ko" dirty="0" err="1"/>
              <a:t>SmoothQuant</a:t>
            </a:r>
            <a:r>
              <a:rPr lang="en" altLang="ko" dirty="0"/>
              <a:t>: Accurate and Efficient Post-Training Quantization for Large Language Models</a:t>
            </a:r>
            <a:endParaRPr dirty="0"/>
          </a:p>
        </p:txBody>
      </p:sp>
      <p:sp>
        <p:nvSpPr>
          <p:cNvPr id="255" name="Google Shape;255;g3f61e6a68b5_0_69"/>
          <p:cNvSpPr txBox="1"/>
          <p:nvPr/>
        </p:nvSpPr>
        <p:spPr>
          <a:xfrm>
            <a:off x="11151" y="4924600"/>
            <a:ext cx="4580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6" name="Google Shape;256;g3f61e6a68b5_0_69"/>
          <p:cNvSpPr txBox="1">
            <a:spLocks noGrp="1"/>
          </p:cNvSpPr>
          <p:nvPr>
            <p:ph type="body" idx="1"/>
          </p:nvPr>
        </p:nvSpPr>
        <p:spPr>
          <a:xfrm>
            <a:off x="371475" y="970030"/>
            <a:ext cx="8692800" cy="39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 indent="-127000">
              <a:spcBef>
                <a:spcPts val="0"/>
              </a:spcBef>
              <a:buSzPts val="1800"/>
            </a:pPr>
            <a:r>
              <a:rPr lang="en-US" sz="1800" b="1" dirty="0">
                <a:solidFill>
                  <a:schemeClr val="tx1"/>
                </a:solidFill>
              </a:rPr>
              <a:t>Problem: </a:t>
            </a:r>
          </a:p>
          <a:p>
            <a:pPr marL="584200" lvl="1" indent="-127000">
              <a:spcBef>
                <a:spcPts val="0"/>
              </a:spcBef>
              <a:buSzPts val="1800"/>
            </a:pPr>
            <a:r>
              <a:rPr lang="en-US" sz="1700" b="1" dirty="0">
                <a:solidFill>
                  <a:schemeClr val="tx2"/>
                </a:solidFill>
              </a:rPr>
              <a:t>Activation</a:t>
            </a:r>
            <a:r>
              <a:rPr lang="en-US" sz="1700" b="1" dirty="0">
                <a:solidFill>
                  <a:schemeClr val="tx1"/>
                </a:solidFill>
              </a:rPr>
              <a:t> Outliers -&gt; quantization error </a:t>
            </a:r>
          </a:p>
          <a:p>
            <a:pPr marL="584200" lvl="1" indent="-127000">
              <a:spcBef>
                <a:spcPts val="0"/>
              </a:spcBef>
              <a:buSzPts val="1800"/>
            </a:pPr>
            <a:r>
              <a:rPr lang="en-US" sz="1700" b="1" dirty="0">
                <a:solidFill>
                  <a:schemeClr val="tx1"/>
                </a:solidFill>
              </a:rPr>
              <a:t>per-channel is infeasible, </a:t>
            </a:r>
            <a:r>
              <a:rPr lang="en-US" altLang="ko-KR" sz="1600" b="1" dirty="0">
                <a:solidFill>
                  <a:schemeClr val="tx1"/>
                </a:solidFill>
              </a:rPr>
              <a:t>system implementation difficult</a:t>
            </a:r>
          </a:p>
          <a:p>
            <a:pPr marL="127000" lvl="0" indent="-127000">
              <a:spcBef>
                <a:spcPts val="0"/>
              </a:spcBef>
              <a:buSzPts val="1800"/>
            </a:pPr>
            <a:r>
              <a:rPr lang="en-US" sz="1800" b="1" dirty="0">
                <a:solidFill>
                  <a:schemeClr val="tx1"/>
                </a:solidFill>
              </a:rPr>
              <a:t>Method: </a:t>
            </a:r>
            <a:r>
              <a:rPr lang="ko" altLang="ko-KR" sz="1800" dirty="0">
                <a:solidFill>
                  <a:schemeClr val="tx1"/>
                </a:solidFill>
              </a:rPr>
              <a:t>Activation-weight equalization</a:t>
            </a:r>
            <a:r>
              <a:rPr lang="en-US" altLang="ko" sz="1800" dirty="0">
                <a:solidFill>
                  <a:schemeClr val="tx1"/>
                </a:solidFill>
              </a:rPr>
              <a:t> (</a:t>
            </a:r>
            <a:r>
              <a:rPr lang="ko-KR" altLang="ko-KR" sz="1800" dirty="0" err="1">
                <a:solidFill>
                  <a:schemeClr val="tx2"/>
                </a:solidFill>
              </a:rPr>
              <a:t>Migrating</a:t>
            </a:r>
            <a:r>
              <a:rPr lang="ko-KR" altLang="ko-KR" sz="1800" dirty="0">
                <a:solidFill>
                  <a:schemeClr val="tx2"/>
                </a:solidFill>
              </a:rPr>
              <a:t> </a:t>
            </a:r>
            <a:r>
              <a:rPr lang="ko-KR" altLang="ko-KR" sz="1800" dirty="0" err="1">
                <a:solidFill>
                  <a:schemeClr val="tx2"/>
                </a:solidFill>
              </a:rPr>
              <a:t>Difficulty</a:t>
            </a:r>
            <a:r>
              <a:rPr lang="ko-KR" altLang="ko-KR" sz="1800" dirty="0">
                <a:solidFill>
                  <a:schemeClr val="tx2"/>
                </a:solidFill>
              </a:rPr>
              <a:t> </a:t>
            </a:r>
            <a:r>
              <a:rPr lang="ko-KR" altLang="ko-KR" sz="1800" dirty="0" err="1">
                <a:solidFill>
                  <a:schemeClr val="tx2"/>
                </a:solidFill>
              </a:rPr>
              <a:t>from</a:t>
            </a:r>
            <a:r>
              <a:rPr lang="ko-KR" altLang="ko-KR" sz="1800" dirty="0">
                <a:solidFill>
                  <a:schemeClr val="tx2"/>
                </a:solidFill>
              </a:rPr>
              <a:t> </a:t>
            </a:r>
            <a:r>
              <a:rPr lang="ko-KR" altLang="ko-KR" sz="1800" dirty="0" err="1">
                <a:solidFill>
                  <a:schemeClr val="tx2"/>
                </a:solidFill>
              </a:rPr>
              <a:t>Activations</a:t>
            </a:r>
            <a:r>
              <a:rPr lang="ko-KR" altLang="ko-KR" sz="1800" dirty="0">
                <a:solidFill>
                  <a:schemeClr val="tx2"/>
                </a:solidFill>
              </a:rPr>
              <a:t> </a:t>
            </a:r>
            <a:r>
              <a:rPr lang="ko-KR" altLang="ko-KR" sz="1800" dirty="0" err="1">
                <a:solidFill>
                  <a:schemeClr val="tx2"/>
                </a:solidFill>
              </a:rPr>
              <a:t>to</a:t>
            </a:r>
            <a:r>
              <a:rPr lang="ko-KR" altLang="ko-KR" sz="1800" dirty="0">
                <a:solidFill>
                  <a:schemeClr val="tx2"/>
                </a:solidFill>
              </a:rPr>
              <a:t> </a:t>
            </a:r>
            <a:r>
              <a:rPr lang="ko-KR" altLang="ko-KR" sz="1800" dirty="0" err="1">
                <a:solidFill>
                  <a:schemeClr val="tx2"/>
                </a:solidFill>
              </a:rPr>
              <a:t>Weights</a:t>
            </a:r>
            <a:r>
              <a:rPr lang="en-US" altLang="ko-KR" sz="1800" dirty="0"/>
              <a:t>)</a:t>
            </a:r>
          </a:p>
          <a:p>
            <a:pPr marL="127000" indent="-127000">
              <a:spcBef>
                <a:spcPts val="0"/>
              </a:spcBef>
              <a:buSzPts val="1800"/>
            </a:pPr>
            <a:r>
              <a:rPr lang="en-US" altLang="ko-KR" sz="1800" b="1" dirty="0">
                <a:solidFill>
                  <a:schemeClr val="tx1"/>
                </a:solidFill>
              </a:rPr>
              <a:t>Result: </a:t>
            </a:r>
            <a:r>
              <a:rPr lang="en-US" altLang="ko-KR" sz="1800" dirty="0">
                <a:solidFill>
                  <a:schemeClr val="tx1"/>
                </a:solidFill>
              </a:rPr>
              <a:t>Better distribution for </a:t>
            </a:r>
            <a:r>
              <a:rPr lang="en-US" altLang="ko-KR" sz="1800" b="1" dirty="0">
                <a:solidFill>
                  <a:schemeClr val="tx2"/>
                </a:solidFill>
              </a:rPr>
              <a:t>activation</a:t>
            </a:r>
            <a:r>
              <a:rPr lang="en-US" altLang="ko-KR" sz="1800" b="1" dirty="0">
                <a:solidFill>
                  <a:schemeClr val="tx1"/>
                </a:solidFill>
              </a:rPr>
              <a:t> quantization</a:t>
            </a:r>
            <a:endParaRPr lang="en-US" altLang="ko" sz="1800" dirty="0">
              <a:solidFill>
                <a:schemeClr val="tx1"/>
              </a:solidFill>
            </a:endParaRPr>
          </a:p>
          <a:p>
            <a:pPr marL="127000" lvl="0" indent="-127000">
              <a:spcBef>
                <a:spcPts val="0"/>
              </a:spcBef>
              <a:buSzPts val="1800"/>
            </a:pPr>
            <a:r>
              <a:rPr lang="en-US" sz="1800" b="1" dirty="0">
                <a:solidFill>
                  <a:schemeClr val="tx1"/>
                </a:solidFill>
              </a:rPr>
              <a:t>Limitation: grid search a(hyperparameter), outlier is not solved(just migrated)</a:t>
            </a:r>
          </a:p>
          <a:p>
            <a:pPr marL="127000" lvl="0" indent="-127000">
              <a:spcBef>
                <a:spcPts val="0"/>
              </a:spcBef>
              <a:buSzPts val="1800"/>
            </a:pPr>
            <a:endParaRPr lang="en-US" sz="1800" b="1" dirty="0">
              <a:solidFill>
                <a:schemeClr val="tx1"/>
              </a:solidFill>
            </a:endParaRPr>
          </a:p>
          <a:p>
            <a:pPr marL="127000" lvl="0" indent="-127000">
              <a:spcBef>
                <a:spcPts val="0"/>
              </a:spcBef>
              <a:buSzPts val="1800"/>
            </a:pPr>
            <a:endParaRPr lang="en-US" sz="1800" b="1" dirty="0">
              <a:solidFill>
                <a:schemeClr val="tx1"/>
              </a:solidFill>
            </a:endParaRPr>
          </a:p>
          <a:p>
            <a:pPr marL="127000" lvl="0" indent="-127000">
              <a:spcBef>
                <a:spcPts val="0"/>
              </a:spcBef>
              <a:buSzPts val="1800"/>
            </a:pPr>
            <a:endParaRPr lang="en-US" sz="1800" b="1" dirty="0">
              <a:solidFill>
                <a:schemeClr val="tx1"/>
              </a:solidFill>
            </a:endParaRPr>
          </a:p>
          <a:p>
            <a:pPr marL="127000" lvl="0" indent="-127000">
              <a:spcBef>
                <a:spcPts val="0"/>
              </a:spcBef>
              <a:buSzPts val="1800"/>
            </a:pPr>
            <a:endParaRPr lang="en-US" sz="1800" b="1" dirty="0">
              <a:solidFill>
                <a:schemeClr val="tx1"/>
              </a:solidFill>
            </a:endParaRPr>
          </a:p>
          <a:p>
            <a:pPr marL="127000" lvl="0" indent="-127000">
              <a:spcBef>
                <a:spcPts val="0"/>
              </a:spcBef>
              <a:buSzPts val="1800"/>
            </a:pPr>
            <a:endParaRPr lang="en-US" sz="1800" b="1" dirty="0">
              <a:solidFill>
                <a:schemeClr val="tx1"/>
              </a:solidFill>
            </a:endParaRPr>
          </a:p>
          <a:p>
            <a:pPr marL="127000" lvl="0" indent="-127000">
              <a:spcBef>
                <a:spcPts val="0"/>
              </a:spcBef>
              <a:buSzPts val="1800"/>
            </a:pPr>
            <a:endParaRPr lang="en-US" sz="1800" b="1" dirty="0">
              <a:solidFill>
                <a:schemeClr val="tx1"/>
              </a:solidFill>
            </a:endParaRPr>
          </a:p>
          <a:p>
            <a:pPr marL="127000" lvl="0" indent="-127000">
              <a:spcBef>
                <a:spcPts val="0"/>
              </a:spcBef>
              <a:buSzPts val="1800"/>
            </a:pPr>
            <a:endParaRPr lang="en-US" sz="1800" b="1" dirty="0">
              <a:solidFill>
                <a:schemeClr val="tx1"/>
              </a:solidFill>
            </a:endParaRPr>
          </a:p>
          <a:p>
            <a:pPr marL="127000" lvl="0" indent="-127000">
              <a:spcBef>
                <a:spcPts val="0"/>
              </a:spcBef>
              <a:buSzPts val="1800"/>
            </a:pPr>
            <a:endParaRPr lang="en-US" sz="1800" b="1" dirty="0">
              <a:solidFill>
                <a:schemeClr val="tx1"/>
              </a:solidFill>
            </a:endParaRPr>
          </a:p>
          <a:p>
            <a:pPr marL="127000" lvl="0" indent="-127000">
              <a:spcBef>
                <a:spcPts val="0"/>
              </a:spcBef>
              <a:buSzPts val="1800"/>
            </a:pPr>
            <a:endParaRPr lang="en-US" sz="1800" b="1" dirty="0">
              <a:solidFill>
                <a:schemeClr val="tx1"/>
              </a:solidFill>
            </a:endParaRPr>
          </a:p>
          <a:p>
            <a:pPr marL="127000" lvl="0" indent="-127000">
              <a:spcBef>
                <a:spcPts val="0"/>
              </a:spcBef>
              <a:buSzPts val="1800"/>
            </a:pPr>
            <a:endParaRPr lang="en-US" sz="1800" b="1" dirty="0">
              <a:solidFill>
                <a:schemeClr val="tx1"/>
              </a:solidFill>
            </a:endParaRPr>
          </a:p>
          <a:p>
            <a:pPr marL="127000" lvl="0" indent="-127000">
              <a:spcBef>
                <a:spcPts val="0"/>
              </a:spcBef>
              <a:buSzPts val="1800"/>
            </a:pPr>
            <a:endParaRPr lang="en-US" sz="1800" b="1" dirty="0">
              <a:solidFill>
                <a:schemeClr val="tx1"/>
              </a:solidFill>
            </a:endParaRPr>
          </a:p>
          <a:p>
            <a:pPr marL="127000" lvl="0" indent="-127000">
              <a:spcBef>
                <a:spcPts val="0"/>
              </a:spcBef>
              <a:buSzPts val="1800"/>
            </a:pPr>
            <a:r>
              <a:rPr lang="en-US" sz="1800" b="1" dirty="0">
                <a:solidFill>
                  <a:schemeClr val="tx1"/>
                </a:solidFill>
              </a:rPr>
              <a:t>…</a:t>
            </a:r>
            <a:endParaRPr sz="1800" b="1" dirty="0">
              <a:solidFill>
                <a:schemeClr val="tx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BD1C2D6-4BDE-C7DC-DA59-C09674D45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319" y="2828680"/>
            <a:ext cx="6789112" cy="209592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5A97442-03AA-CEE4-B1B6-3BD547B804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2208" y="970030"/>
            <a:ext cx="2762067" cy="304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61e6a68b5_0_62"/>
          <p:cNvSpPr txBox="1">
            <a:spLocks noGrp="1"/>
          </p:cNvSpPr>
          <p:nvPr>
            <p:ph type="title"/>
          </p:nvPr>
        </p:nvSpPr>
        <p:spPr>
          <a:xfrm>
            <a:off x="371475" y="301687"/>
            <a:ext cx="8390400" cy="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None/>
            </a:pPr>
            <a:r>
              <a:rPr lang="ko" dirty="0"/>
              <a:t>AWQ</a:t>
            </a:r>
            <a:r>
              <a:rPr lang="en-US" altLang="ko" dirty="0"/>
              <a:t> for Low-bit Weight-only Quantization</a:t>
            </a:r>
            <a:endParaRPr dirty="0"/>
          </a:p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None/>
            </a:pPr>
            <a:endParaRPr dirty="0"/>
          </a:p>
        </p:txBody>
      </p:sp>
      <p:sp>
        <p:nvSpPr>
          <p:cNvPr id="236" name="Google Shape;236;g3f61e6a68b5_0_62"/>
          <p:cNvSpPr txBox="1">
            <a:spLocks noGrp="1"/>
          </p:cNvSpPr>
          <p:nvPr>
            <p:ph type="subTitle" idx="2"/>
          </p:nvPr>
        </p:nvSpPr>
        <p:spPr>
          <a:xfrm>
            <a:off x="370642" y="640532"/>
            <a:ext cx="8391300" cy="20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indent="0">
              <a:spcBef>
                <a:spcPts val="0"/>
              </a:spcBef>
            </a:pPr>
            <a:r>
              <a:rPr lang="en" altLang="ko" dirty="0"/>
              <a:t>AWQ: Activation-aware Weight Quantization for LLM Compression and Acceleration</a:t>
            </a:r>
          </a:p>
        </p:txBody>
      </p:sp>
      <p:sp>
        <p:nvSpPr>
          <p:cNvPr id="237" name="Google Shape;237;g3f61e6a68b5_0_62"/>
          <p:cNvSpPr txBox="1"/>
          <p:nvPr/>
        </p:nvSpPr>
        <p:spPr>
          <a:xfrm>
            <a:off x="11151" y="4924600"/>
            <a:ext cx="4580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8" name="Google Shape;238;g3f61e6a68b5_0_62"/>
          <p:cNvSpPr txBox="1">
            <a:spLocks noGrp="1"/>
          </p:cNvSpPr>
          <p:nvPr>
            <p:ph type="body" idx="1"/>
          </p:nvPr>
        </p:nvSpPr>
        <p:spPr>
          <a:xfrm>
            <a:off x="371475" y="970030"/>
            <a:ext cx="8692800" cy="39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0" indent="-127000">
              <a:spcBef>
                <a:spcPts val="0"/>
              </a:spcBef>
              <a:buSzPts val="1800"/>
            </a:pPr>
            <a:r>
              <a:rPr lang="en-US" altLang="ko-KR" sz="1400" b="1" dirty="0">
                <a:solidFill>
                  <a:schemeClr val="tx1"/>
                </a:solidFill>
              </a:rPr>
              <a:t>Goal: </a:t>
            </a:r>
            <a:r>
              <a:rPr lang="en-US" altLang="ko-KR" sz="1400" dirty="0">
                <a:solidFill>
                  <a:schemeClr val="tx1"/>
                </a:solidFill>
              </a:rPr>
              <a:t>mitigate </a:t>
            </a:r>
            <a:r>
              <a:rPr lang="en-US" altLang="ko-KR" sz="1400" dirty="0">
                <a:solidFill>
                  <a:schemeClr val="tx2"/>
                </a:solidFill>
              </a:rPr>
              <a:t>weight</a:t>
            </a:r>
            <a:r>
              <a:rPr lang="en-US" altLang="ko-KR" sz="1400" dirty="0">
                <a:solidFill>
                  <a:schemeClr val="tx1"/>
                </a:solidFill>
              </a:rPr>
              <a:t> quantization error (</a:t>
            </a:r>
            <a:r>
              <a:rPr lang="en-US" altLang="ko-KR" sz="1400" dirty="0">
                <a:solidFill>
                  <a:schemeClr val="tx2"/>
                </a:solidFill>
              </a:rPr>
              <a:t>W4A16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</a:p>
          <a:p>
            <a:pPr marL="127000" indent="-127000">
              <a:spcBef>
                <a:spcPts val="0"/>
              </a:spcBef>
              <a:buSzPts val="1800"/>
            </a:pPr>
            <a:r>
              <a:rPr lang="en-US" altLang="ko-KR" sz="1400" b="1" dirty="0">
                <a:solidFill>
                  <a:schemeClr val="tx1"/>
                </a:solidFill>
              </a:rPr>
              <a:t>Idea: </a:t>
            </a:r>
            <a:r>
              <a:rPr lang="en-US" altLang="ko-KR" sz="1400" dirty="0">
                <a:solidFill>
                  <a:schemeClr val="tx1"/>
                </a:solidFill>
              </a:rPr>
              <a:t>weights are not equally important, </a:t>
            </a:r>
            <a:r>
              <a:rPr lang="en-US" altLang="ko-KR" sz="1400" dirty="0">
                <a:solidFill>
                  <a:schemeClr val="tx2"/>
                </a:solidFill>
              </a:rPr>
              <a:t>larger activations are generally more important</a:t>
            </a:r>
            <a:endParaRPr lang="en-US" altLang="ko-KR" dirty="0">
              <a:solidFill>
                <a:schemeClr val="tx2"/>
              </a:solidFill>
            </a:endParaRPr>
          </a:p>
          <a:p>
            <a:pPr marL="127000" indent="-127000">
              <a:spcBef>
                <a:spcPts val="0"/>
              </a:spcBef>
              <a:buSzPts val="1800"/>
            </a:pPr>
            <a:r>
              <a:rPr lang="en-US" altLang="ko-KR" sz="1400" b="1" dirty="0">
                <a:solidFill>
                  <a:schemeClr val="tx1"/>
                </a:solidFill>
              </a:rPr>
              <a:t>Method: </a:t>
            </a:r>
            <a:r>
              <a:rPr lang="ko" altLang="ko-KR" sz="1400" dirty="0">
                <a:solidFill>
                  <a:schemeClr val="tx1"/>
                </a:solidFill>
              </a:rPr>
              <a:t>Activation-aware </a:t>
            </a:r>
            <a:r>
              <a:rPr lang="ko" altLang="ko-KR" sz="1400" dirty="0">
                <a:solidFill>
                  <a:schemeClr val="tx2"/>
                </a:solidFill>
              </a:rPr>
              <a:t>weight</a:t>
            </a:r>
            <a:r>
              <a:rPr lang="ko" altLang="ko-KR" sz="1400" dirty="0">
                <a:solidFill>
                  <a:schemeClr val="tx1"/>
                </a:solidFill>
              </a:rPr>
              <a:t> protection</a:t>
            </a:r>
            <a:endParaRPr lang="en-US" altLang="ko" sz="1400" dirty="0">
              <a:solidFill>
                <a:schemeClr val="tx1"/>
              </a:solidFill>
            </a:endParaRPr>
          </a:p>
          <a:p>
            <a:pPr marL="584200" lvl="1" indent="-127000">
              <a:spcBef>
                <a:spcPts val="0"/>
              </a:spcBef>
              <a:buSzPts val="1800"/>
            </a:pPr>
            <a:r>
              <a:rPr lang="en-US" altLang="ko" dirty="0">
                <a:solidFill>
                  <a:schemeClr val="tx2"/>
                </a:solidFill>
              </a:rPr>
              <a:t>Channel-wise</a:t>
            </a:r>
            <a:r>
              <a:rPr lang="en-US" altLang="ko" dirty="0">
                <a:solidFill>
                  <a:schemeClr val="tx1"/>
                </a:solidFill>
              </a:rPr>
              <a:t>, </a:t>
            </a:r>
            <a:r>
              <a:rPr lang="en-US" altLang="ko" b="1" dirty="0">
                <a:solidFill>
                  <a:schemeClr val="tx1"/>
                </a:solidFill>
              </a:rPr>
              <a:t>scale </a:t>
            </a:r>
            <a:r>
              <a:rPr lang="ko-KR" altLang="ko-KR" b="1" dirty="0" err="1"/>
              <a:t>up</a:t>
            </a:r>
            <a:r>
              <a:rPr lang="ko-KR" altLang="ko-KR" b="1" dirty="0"/>
              <a:t> </a:t>
            </a:r>
            <a:r>
              <a:rPr lang="ko-KR" altLang="ko-KR" b="1" dirty="0" err="1"/>
              <a:t>salient</a:t>
            </a:r>
            <a:r>
              <a:rPr lang="ko-KR" altLang="ko-KR" b="1" dirty="0"/>
              <a:t> </a:t>
            </a:r>
            <a:r>
              <a:rPr lang="ko-KR" altLang="ko-KR" b="1" dirty="0" err="1"/>
              <a:t>weight</a:t>
            </a:r>
            <a:r>
              <a:rPr lang="ko-KR" altLang="ko-KR" dirty="0"/>
              <a:t> </a:t>
            </a:r>
            <a:r>
              <a:rPr lang="ko-KR" altLang="ko-KR" dirty="0" err="1"/>
              <a:t>channels</a:t>
            </a:r>
            <a:r>
              <a:rPr lang="ko-KR" altLang="ko-KR" dirty="0"/>
              <a:t> </a:t>
            </a:r>
            <a:endParaRPr lang="en-US" altLang="ko" dirty="0">
              <a:solidFill>
                <a:schemeClr val="tx1"/>
              </a:solidFill>
            </a:endParaRPr>
          </a:p>
          <a:p>
            <a:pPr marL="127000" indent="-127000">
              <a:spcBef>
                <a:spcPts val="0"/>
              </a:spcBef>
              <a:buSzPts val="1800"/>
            </a:pPr>
            <a:r>
              <a:rPr lang="en-US" altLang="ko-KR" sz="1400" b="1" dirty="0">
                <a:solidFill>
                  <a:schemeClr val="tx1"/>
                </a:solidFill>
              </a:rPr>
              <a:t>Effect: </a:t>
            </a:r>
          </a:p>
          <a:p>
            <a:pPr marL="584200" lvl="1" indent="-127000">
              <a:spcBef>
                <a:spcPts val="0"/>
              </a:spcBef>
              <a:buSzPts val="1800"/>
            </a:pPr>
            <a:r>
              <a:rPr lang="ko-KR" altLang="ko-KR" dirty="0" err="1"/>
              <a:t>Robust</a:t>
            </a:r>
            <a:r>
              <a:rPr lang="ko-KR" altLang="ko-KR" dirty="0"/>
              <a:t> </a:t>
            </a:r>
            <a:r>
              <a:rPr lang="ko-KR" altLang="ko-KR" dirty="0" err="1"/>
              <a:t>to</a:t>
            </a:r>
            <a:r>
              <a:rPr lang="ko-KR" altLang="ko-KR" dirty="0"/>
              <a:t> </a:t>
            </a:r>
            <a:r>
              <a:rPr lang="ko-KR" altLang="ko-KR" dirty="0" err="1"/>
              <a:t>calibration</a:t>
            </a:r>
            <a:r>
              <a:rPr lang="ko-KR" altLang="ko-KR" dirty="0"/>
              <a:t> </a:t>
            </a:r>
            <a:r>
              <a:rPr lang="ko-KR" altLang="ko-KR" dirty="0" err="1"/>
              <a:t>set</a:t>
            </a:r>
            <a:r>
              <a:rPr lang="ko-KR" altLang="ko-KR" dirty="0"/>
              <a:t> </a:t>
            </a:r>
            <a:r>
              <a:rPr lang="ko-KR" altLang="ko-KR" dirty="0" err="1"/>
              <a:t>size</a:t>
            </a:r>
            <a:r>
              <a:rPr lang="ko-KR" altLang="ko-KR" dirty="0"/>
              <a:t> and </a:t>
            </a:r>
            <a:r>
              <a:rPr lang="ko-KR" altLang="ko-KR" dirty="0" err="1"/>
              <a:t>domain</a:t>
            </a:r>
            <a:r>
              <a:rPr lang="ko-KR" altLang="ko-KR" dirty="0"/>
              <a:t> </a:t>
            </a:r>
            <a:r>
              <a:rPr lang="ko-KR" altLang="ko-KR" dirty="0" err="1"/>
              <a:t>shift</a:t>
            </a:r>
            <a:endParaRPr lang="en-US" altLang="ko-KR" dirty="0"/>
          </a:p>
          <a:p>
            <a:pPr marL="1041400" lvl="2" indent="-127000">
              <a:spcBef>
                <a:spcPts val="0"/>
              </a:spcBef>
              <a:buSzPts val="1800"/>
            </a:pPr>
            <a:r>
              <a:rPr lang="en-US" altLang="ko-KR" b="1" dirty="0">
                <a:solidFill>
                  <a:schemeClr val="tx1"/>
                </a:solidFill>
              </a:rPr>
              <a:t>Prevents over-</a:t>
            </a:r>
            <a:r>
              <a:rPr lang="en-US" altLang="ko-KR" b="1" dirty="0" err="1">
                <a:solidFill>
                  <a:schemeClr val="tx1"/>
                </a:solidFill>
              </a:rPr>
              <a:t>fittingl</a:t>
            </a:r>
            <a:r>
              <a:rPr lang="en-US" altLang="ko-KR" b="1" dirty="0">
                <a:solidFill>
                  <a:schemeClr val="tx1"/>
                </a:solidFill>
              </a:rPr>
              <a:t> — grid search over </a:t>
            </a:r>
            <a:r>
              <a:rPr lang="el-GR" altLang="ko-KR" b="1" dirty="0">
                <a:solidFill>
                  <a:schemeClr val="tx1"/>
                </a:solidFill>
              </a:rPr>
              <a:t>α</a:t>
            </a:r>
            <a:endParaRPr lang="en-US" altLang="ko-KR" b="1" dirty="0">
              <a:solidFill>
                <a:schemeClr val="tx1"/>
              </a:solidFill>
            </a:endParaRPr>
          </a:p>
          <a:p>
            <a:pPr marL="584200" lvl="1" indent="-127000">
              <a:spcBef>
                <a:spcPts val="0"/>
              </a:spcBef>
              <a:buSzPts val="1800"/>
            </a:pPr>
            <a:r>
              <a:rPr lang="en-US" altLang="ko-KR" b="1" dirty="0">
                <a:solidFill>
                  <a:schemeClr val="tx1"/>
                </a:solidFill>
              </a:rPr>
              <a:t>No backpropagation, no weight update — grid search over </a:t>
            </a:r>
            <a:r>
              <a:rPr lang="el-GR" altLang="ko-KR" b="1" dirty="0">
                <a:solidFill>
                  <a:schemeClr val="tx1"/>
                </a:solidFill>
              </a:rPr>
              <a:t>α</a:t>
            </a:r>
            <a:endParaRPr lang="en-US" altLang="ko-KR" b="1" dirty="0">
              <a:solidFill>
                <a:schemeClr val="tx1"/>
              </a:solidFill>
            </a:endParaRPr>
          </a:p>
          <a:p>
            <a:pPr marL="1041400" lvl="2" indent="-127000">
              <a:spcBef>
                <a:spcPts val="0"/>
              </a:spcBef>
              <a:buSzPts val="1800"/>
            </a:pPr>
            <a:r>
              <a:rPr lang="en-US" altLang="ko-KR" sz="1200" b="1" dirty="0">
                <a:solidFill>
                  <a:schemeClr val="tx1"/>
                </a:solidFill>
              </a:rPr>
              <a:t>Generalize to different domains and modalities</a:t>
            </a:r>
          </a:p>
          <a:p>
            <a:pPr marL="127000" indent="-127000">
              <a:spcBef>
                <a:spcPts val="0"/>
              </a:spcBef>
              <a:buSzPts val="1800"/>
            </a:pPr>
            <a:r>
              <a:rPr lang="en-US" altLang="ko-KR" sz="1400" b="1" dirty="0">
                <a:solidFill>
                  <a:schemeClr val="tx1"/>
                </a:solidFill>
              </a:rPr>
              <a:t>Limitation: weight-only, not activation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D8E2D3F-D958-59B8-7961-697899E9E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6508" y="1406946"/>
            <a:ext cx="3349482" cy="62027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37B21C6-3776-DD0A-7B0A-231D0A967D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799" y="3426416"/>
            <a:ext cx="7299191" cy="17170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7EDA109-00A5-6099-0558-65374D032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7221" y="3095045"/>
            <a:ext cx="5458142" cy="2048455"/>
          </a:xfrm>
          <a:prstGeom prst="rect">
            <a:avLst/>
          </a:prstGeom>
        </p:spPr>
      </p:pic>
      <p:sp>
        <p:nvSpPr>
          <p:cNvPr id="262" name="Google Shape;262;g3f63937a9f2_0_31"/>
          <p:cNvSpPr txBox="1">
            <a:spLocks noGrp="1"/>
          </p:cNvSpPr>
          <p:nvPr>
            <p:ph type="title"/>
          </p:nvPr>
        </p:nvSpPr>
        <p:spPr>
          <a:xfrm>
            <a:off x="371475" y="301687"/>
            <a:ext cx="8390400" cy="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/>
            <a:r>
              <a:rPr lang="ko" altLang="ko-KR" dirty="0"/>
              <a:t>QuaRot</a:t>
            </a:r>
            <a:r>
              <a:rPr lang="ko" altLang="en-US" dirty="0"/>
              <a:t> </a:t>
            </a:r>
            <a:r>
              <a:rPr lang="en-US" altLang="ko-KR" dirty="0"/>
              <a:t>/ </a:t>
            </a:r>
            <a:r>
              <a:rPr lang="en-US" altLang="ko-KR" dirty="0" err="1"/>
              <a:t>SpinQuant</a:t>
            </a:r>
            <a:endParaRPr dirty="0"/>
          </a:p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None/>
            </a:pPr>
            <a:endParaRPr dirty="0"/>
          </a:p>
        </p:txBody>
      </p:sp>
      <p:sp>
        <p:nvSpPr>
          <p:cNvPr id="263" name="Google Shape;263;g3f63937a9f2_0_31"/>
          <p:cNvSpPr txBox="1">
            <a:spLocks noGrp="1"/>
          </p:cNvSpPr>
          <p:nvPr>
            <p:ph type="subTitle" idx="2"/>
          </p:nvPr>
        </p:nvSpPr>
        <p:spPr>
          <a:xfrm>
            <a:off x="370642" y="640532"/>
            <a:ext cx="8391300" cy="20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indent="0">
              <a:spcBef>
                <a:spcPts val="0"/>
              </a:spcBef>
            </a:pPr>
            <a:r>
              <a:rPr lang="en" altLang="ko" dirty="0" err="1"/>
              <a:t>Quarot</a:t>
            </a:r>
            <a:r>
              <a:rPr lang="en" altLang="ko" dirty="0"/>
              <a:t>: Outlier-free 4-bit inference in rotated </a:t>
            </a:r>
            <a:r>
              <a:rPr lang="en" altLang="ko" dirty="0" err="1"/>
              <a:t>llms</a:t>
            </a:r>
            <a:r>
              <a:rPr lang="en" altLang="ko" dirty="0"/>
              <a:t> </a:t>
            </a:r>
            <a:r>
              <a:rPr lang="en-US" altLang="ko-KR" dirty="0"/>
              <a:t>/ </a:t>
            </a:r>
            <a:r>
              <a:rPr lang="en" altLang="ko" dirty="0" err="1"/>
              <a:t>SpinQuant</a:t>
            </a:r>
            <a:r>
              <a:rPr lang="en" altLang="ko" dirty="0"/>
              <a:t>: LLM quantization with learned rotations</a:t>
            </a:r>
          </a:p>
        </p:txBody>
      </p:sp>
      <p:sp>
        <p:nvSpPr>
          <p:cNvPr id="264" name="Google Shape;264;g3f63937a9f2_0_31"/>
          <p:cNvSpPr txBox="1"/>
          <p:nvPr/>
        </p:nvSpPr>
        <p:spPr>
          <a:xfrm>
            <a:off x="11151" y="4924600"/>
            <a:ext cx="4580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5" name="Google Shape;265;g3f63937a9f2_0_31"/>
          <p:cNvSpPr txBox="1">
            <a:spLocks noGrp="1"/>
          </p:cNvSpPr>
          <p:nvPr>
            <p:ph type="body" idx="1"/>
          </p:nvPr>
        </p:nvSpPr>
        <p:spPr>
          <a:xfrm>
            <a:off x="371475" y="970030"/>
            <a:ext cx="4580400" cy="39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0" indent="-127000">
              <a:spcBef>
                <a:spcPts val="0"/>
              </a:spcBef>
              <a:buSzPts val="1800"/>
            </a:pPr>
            <a:r>
              <a:rPr lang="ko-KR" altLang="ko-KR" sz="1400" b="1" dirty="0" err="1"/>
              <a:t>Goal</a:t>
            </a:r>
            <a:r>
              <a:rPr lang="ko-KR" altLang="ko-KR" sz="1400" b="1" dirty="0"/>
              <a:t>:</a:t>
            </a:r>
            <a:r>
              <a:rPr lang="ko-KR" altLang="ko-KR" sz="1400" dirty="0"/>
              <a:t> </a:t>
            </a:r>
            <a:r>
              <a:rPr lang="ko-KR" altLang="ko-KR" sz="1400" dirty="0" err="1"/>
              <a:t>Mitigate</a:t>
            </a:r>
            <a:r>
              <a:rPr lang="ko-KR" altLang="ko-KR" sz="1400" dirty="0"/>
              <a:t> </a:t>
            </a:r>
            <a:r>
              <a:rPr lang="ko-KR" altLang="ko-KR" sz="1400" dirty="0" err="1">
                <a:solidFill>
                  <a:schemeClr val="tx2"/>
                </a:solidFill>
              </a:rPr>
              <a:t>activation</a:t>
            </a:r>
            <a:r>
              <a:rPr lang="ko-KR" altLang="ko-KR" sz="1400" dirty="0">
                <a:solidFill>
                  <a:schemeClr val="tx2"/>
                </a:solidFill>
              </a:rPr>
              <a:t> </a:t>
            </a:r>
            <a:r>
              <a:rPr lang="ko-KR" altLang="ko-KR" sz="1400" dirty="0" err="1">
                <a:solidFill>
                  <a:schemeClr val="tx1"/>
                </a:solidFill>
              </a:rPr>
              <a:t>outliers</a:t>
            </a:r>
            <a:r>
              <a:rPr lang="ko-KR" altLang="ko-KR" sz="1400" dirty="0">
                <a:solidFill>
                  <a:schemeClr val="tx2"/>
                </a:solidFill>
              </a:rPr>
              <a:t> </a:t>
            </a:r>
            <a:r>
              <a:rPr lang="ko-KR" altLang="ko-KR" sz="1400" dirty="0" err="1"/>
              <a:t>for</a:t>
            </a:r>
            <a:r>
              <a:rPr lang="ko-KR" altLang="ko-KR" sz="1400" dirty="0"/>
              <a:t> </a:t>
            </a:r>
            <a:r>
              <a:rPr lang="ko-KR" altLang="ko-KR" sz="1400" dirty="0" err="1"/>
              <a:t>low-bit</a:t>
            </a:r>
            <a:r>
              <a:rPr lang="ko-KR" altLang="ko-KR" sz="1400" dirty="0"/>
              <a:t> </a:t>
            </a:r>
            <a:r>
              <a:rPr lang="ko-KR" altLang="ko-KR" sz="1400" dirty="0" err="1"/>
              <a:t>quantization</a:t>
            </a:r>
            <a:r>
              <a:rPr lang="ko-KR" altLang="ko-KR" sz="1400" dirty="0"/>
              <a:t> (</a:t>
            </a:r>
            <a:r>
              <a:rPr lang="ko-KR" altLang="ko-KR" sz="1400" dirty="0">
                <a:solidFill>
                  <a:schemeClr val="tx2"/>
                </a:solidFill>
              </a:rPr>
              <a:t>W4A4</a:t>
            </a:r>
            <a:r>
              <a:rPr lang="ko-KR" altLang="ko-KR" sz="1400" dirty="0"/>
              <a:t>)</a:t>
            </a:r>
          </a:p>
          <a:p>
            <a:pPr marL="127000" indent="-127000">
              <a:spcBef>
                <a:spcPts val="0"/>
              </a:spcBef>
              <a:buSzPts val="1800"/>
            </a:pPr>
            <a:endParaRPr lang="en-US" altLang="ko-KR" sz="1400" b="1" dirty="0"/>
          </a:p>
          <a:p>
            <a:pPr marL="127000" indent="-127000">
              <a:spcBef>
                <a:spcPts val="0"/>
              </a:spcBef>
              <a:buSzPts val="1800"/>
            </a:pPr>
            <a:r>
              <a:rPr lang="ko-KR" altLang="ko-KR" sz="1400" b="1" dirty="0" err="1"/>
              <a:t>Method</a:t>
            </a:r>
            <a:r>
              <a:rPr lang="ko-KR" altLang="ko-KR" sz="1400" b="1" dirty="0"/>
              <a:t>:</a:t>
            </a:r>
            <a:r>
              <a:rPr lang="ko-KR" altLang="ko-KR" sz="1400" dirty="0"/>
              <a:t> </a:t>
            </a:r>
            <a:r>
              <a:rPr lang="ko-KR" altLang="ko-KR" sz="1400" dirty="0" err="1">
                <a:solidFill>
                  <a:schemeClr val="tx2"/>
                </a:solidFill>
              </a:rPr>
              <a:t>Rotation</a:t>
            </a:r>
            <a:r>
              <a:rPr lang="ko-KR" altLang="ko-KR" sz="1400" dirty="0" err="1"/>
              <a:t>-based</a:t>
            </a:r>
            <a:r>
              <a:rPr lang="ko-KR" altLang="ko-KR" sz="1400" dirty="0"/>
              <a:t> </a:t>
            </a:r>
            <a:r>
              <a:rPr lang="ko-KR" altLang="ko-KR" sz="1400" dirty="0" err="1"/>
              <a:t>quantization</a:t>
            </a:r>
            <a:endParaRPr lang="en-US" altLang="ko-KR" sz="1400" dirty="0"/>
          </a:p>
          <a:p>
            <a:pPr marL="584200" lvl="1" indent="-127000">
              <a:spcBef>
                <a:spcPts val="0"/>
              </a:spcBef>
              <a:buSzPts val="1800"/>
            </a:pPr>
            <a:r>
              <a:rPr lang="en-US" altLang="ko-KR" sz="1200" dirty="0" err="1">
                <a:solidFill>
                  <a:schemeClr val="tx2"/>
                </a:solidFill>
              </a:rPr>
              <a:t>QuaRot</a:t>
            </a:r>
            <a:r>
              <a:rPr lang="en-US" altLang="ko-KR" sz="1200" dirty="0"/>
              <a:t>: </a:t>
            </a:r>
            <a:r>
              <a:rPr lang="ko-KR" altLang="ko-KR" sz="1200" dirty="0" err="1">
                <a:solidFill>
                  <a:schemeClr val="tx2"/>
                </a:solidFill>
              </a:rPr>
              <a:t>Hadamard</a:t>
            </a:r>
            <a:r>
              <a:rPr lang="ko-KR" altLang="ko-KR" sz="1200" dirty="0">
                <a:solidFill>
                  <a:schemeClr val="tx2"/>
                </a:solidFill>
              </a:rPr>
              <a:t> </a:t>
            </a:r>
            <a:r>
              <a:rPr lang="ko-KR" altLang="ko-KR" sz="1200" dirty="0" err="1">
                <a:solidFill>
                  <a:schemeClr val="tx2"/>
                </a:solidFill>
              </a:rPr>
              <a:t>rotatio</a:t>
            </a:r>
            <a:r>
              <a:rPr lang="en-US" altLang="ko-KR" sz="1200" dirty="0">
                <a:solidFill>
                  <a:schemeClr val="tx2"/>
                </a:solidFill>
              </a:rPr>
              <a:t>n</a:t>
            </a:r>
          </a:p>
          <a:p>
            <a:pPr marL="584200" lvl="1" indent="-127000">
              <a:spcBef>
                <a:spcPts val="0"/>
              </a:spcBef>
              <a:buSzPts val="1800"/>
            </a:pPr>
            <a:r>
              <a:rPr lang="en-US" altLang="ko-KR" sz="1200" dirty="0" err="1">
                <a:solidFill>
                  <a:schemeClr val="tx2"/>
                </a:solidFill>
              </a:rPr>
              <a:t>SpinQuant</a:t>
            </a:r>
            <a:r>
              <a:rPr lang="en-US" altLang="ko-KR" sz="1200" dirty="0"/>
              <a:t>: </a:t>
            </a:r>
            <a:r>
              <a:rPr lang="ko-KR" altLang="ko-KR" sz="1200" dirty="0" err="1"/>
              <a:t>Learn</a:t>
            </a:r>
            <a:r>
              <a:rPr lang="ko-KR" altLang="ko-KR" sz="1200" dirty="0"/>
              <a:t> </a:t>
            </a:r>
            <a:r>
              <a:rPr lang="ko-KR" altLang="ko-KR" sz="1200" dirty="0" err="1"/>
              <a:t>the</a:t>
            </a:r>
            <a:r>
              <a:rPr lang="ko-KR" altLang="ko-KR" sz="1200" dirty="0"/>
              <a:t> </a:t>
            </a:r>
            <a:r>
              <a:rPr lang="ko-KR" altLang="ko-KR" sz="1200" dirty="0" err="1"/>
              <a:t>optimal</a:t>
            </a:r>
            <a:r>
              <a:rPr lang="ko-KR" altLang="ko-KR" sz="1200" dirty="0"/>
              <a:t> </a:t>
            </a:r>
            <a:r>
              <a:rPr lang="ko-KR" altLang="ko-KR" sz="1200" dirty="0" err="1"/>
              <a:t>rotation</a:t>
            </a:r>
            <a:r>
              <a:rPr lang="ko-KR" altLang="ko-KR" sz="1200" dirty="0"/>
              <a:t> </a:t>
            </a:r>
            <a:r>
              <a:rPr lang="ko-KR" altLang="ko-KR" sz="1200" dirty="0" err="1"/>
              <a:t>on</a:t>
            </a:r>
            <a:r>
              <a:rPr lang="ko-KR" altLang="ko-KR" sz="1200" dirty="0"/>
              <a:t> </a:t>
            </a:r>
            <a:r>
              <a:rPr lang="ko-KR" altLang="ko-KR" sz="1200" dirty="0" err="1"/>
              <a:t>the</a:t>
            </a:r>
            <a:r>
              <a:rPr lang="ko-KR" altLang="ko-KR" sz="1200" dirty="0"/>
              <a:t> </a:t>
            </a:r>
            <a:r>
              <a:rPr lang="en-US" altLang="ko-KR" sz="1200" dirty="0"/>
              <a:t>		            </a:t>
            </a:r>
            <a:r>
              <a:rPr lang="ko-KR" altLang="ko-KR" sz="1200" dirty="0" err="1">
                <a:solidFill>
                  <a:schemeClr val="tx2"/>
                </a:solidFill>
              </a:rPr>
              <a:t>Stiefel</a:t>
            </a:r>
            <a:r>
              <a:rPr lang="ko-KR" altLang="ko-KR" sz="1200" dirty="0">
                <a:solidFill>
                  <a:schemeClr val="tx2"/>
                </a:solidFill>
              </a:rPr>
              <a:t> </a:t>
            </a:r>
            <a:r>
              <a:rPr lang="ko-KR" altLang="ko-KR" sz="1200" dirty="0" err="1">
                <a:solidFill>
                  <a:schemeClr val="tx2"/>
                </a:solidFill>
              </a:rPr>
              <a:t>manifold</a:t>
            </a:r>
            <a:endParaRPr lang="en-US" altLang="ko-KR" sz="1200" dirty="0">
              <a:solidFill>
                <a:schemeClr val="tx2"/>
              </a:solidFill>
            </a:endParaRPr>
          </a:p>
          <a:p>
            <a:pPr marL="127000" indent="-127000">
              <a:spcBef>
                <a:spcPts val="0"/>
              </a:spcBef>
              <a:buSzPts val="1800"/>
            </a:pPr>
            <a:r>
              <a:rPr lang="ko-KR" altLang="ko-KR" sz="1400" b="1" dirty="0" err="1"/>
              <a:t>Effect</a:t>
            </a:r>
            <a:r>
              <a:rPr lang="ko-KR" altLang="ko-KR" sz="1400" b="1" dirty="0"/>
              <a:t>:</a:t>
            </a:r>
            <a:endParaRPr lang="ko-KR" altLang="ko-KR" sz="1400" dirty="0"/>
          </a:p>
          <a:p>
            <a:pPr marL="584200" lvl="1" indent="-127000">
              <a:spcBef>
                <a:spcPts val="0"/>
              </a:spcBef>
              <a:buSzPts val="1800"/>
            </a:pPr>
            <a:r>
              <a:rPr lang="ko-KR" altLang="ko-KR" sz="1200" dirty="0" err="1"/>
              <a:t>Removes</a:t>
            </a:r>
            <a:r>
              <a:rPr lang="ko-KR" altLang="ko-KR" sz="1200" dirty="0"/>
              <a:t> </a:t>
            </a:r>
            <a:r>
              <a:rPr lang="ko-KR" altLang="ko-KR" sz="1200" dirty="0" err="1"/>
              <a:t>the</a:t>
            </a:r>
            <a:r>
              <a:rPr lang="ko-KR" altLang="ko-KR" sz="1200" dirty="0"/>
              <a:t> </a:t>
            </a:r>
            <a:r>
              <a:rPr lang="ko-KR" altLang="ko-KR" sz="1200" b="1" dirty="0" err="1">
                <a:solidFill>
                  <a:schemeClr val="tx2"/>
                </a:solidFill>
              </a:rPr>
              <a:t>channel-aligned</a:t>
            </a:r>
            <a:r>
              <a:rPr lang="ko-KR" altLang="ko-KR" sz="1200" b="1" dirty="0">
                <a:solidFill>
                  <a:schemeClr val="tx2"/>
                </a:solidFill>
              </a:rPr>
              <a:t> </a:t>
            </a:r>
            <a:r>
              <a:rPr lang="ko-KR" altLang="ko-KR" sz="1200" b="1" dirty="0" err="1">
                <a:solidFill>
                  <a:schemeClr val="tx2"/>
                </a:solidFill>
              </a:rPr>
              <a:t>outlier</a:t>
            </a:r>
            <a:endParaRPr lang="ko-KR" altLang="ko-KR" sz="1200" dirty="0">
              <a:solidFill>
                <a:schemeClr val="tx2"/>
              </a:solidFill>
            </a:endParaRPr>
          </a:p>
          <a:p>
            <a:pPr marL="584200" lvl="1" indent="-127000">
              <a:spcBef>
                <a:spcPts val="0"/>
              </a:spcBef>
              <a:buSzPts val="1800"/>
            </a:pPr>
            <a:r>
              <a:rPr lang="ko-KR" altLang="ko-KR" sz="1200" dirty="0" err="1"/>
              <a:t>Enables</a:t>
            </a:r>
            <a:r>
              <a:rPr lang="ko-KR" altLang="ko-KR" sz="1200" dirty="0"/>
              <a:t> </a:t>
            </a:r>
            <a:r>
              <a:rPr lang="en" altLang="ko" sz="1200" dirty="0"/>
              <a:t>Outlier-free 4-bit inference </a:t>
            </a:r>
            <a:endParaRPr lang="ko-KR" altLang="ko-KR" sz="1200" dirty="0"/>
          </a:p>
          <a:p>
            <a:pPr marL="584200" lvl="1" indent="-127000">
              <a:spcBef>
                <a:spcPts val="0"/>
              </a:spcBef>
              <a:buSzPts val="1800"/>
            </a:pPr>
            <a:r>
              <a:rPr lang="ko-KR" altLang="ko-KR" sz="1200" dirty="0" err="1"/>
              <a:t>Preserves</a:t>
            </a:r>
            <a:r>
              <a:rPr lang="ko-KR" altLang="ko-KR" sz="1200" dirty="0"/>
              <a:t> </a:t>
            </a:r>
            <a:r>
              <a:rPr lang="ko-KR" altLang="ko-KR" sz="1200" dirty="0" err="1"/>
              <a:t>accuracy</a:t>
            </a:r>
            <a:r>
              <a:rPr lang="ko-KR" altLang="ko-KR" sz="1200" dirty="0"/>
              <a:t> </a:t>
            </a:r>
            <a:r>
              <a:rPr lang="ko-KR" altLang="ko-KR" sz="1200" dirty="0" err="1"/>
              <a:t>under</a:t>
            </a:r>
            <a:r>
              <a:rPr lang="ko-KR" altLang="ko-KR" sz="1200" dirty="0"/>
              <a:t> </a:t>
            </a:r>
            <a:r>
              <a:rPr lang="ko-KR" altLang="ko-KR" sz="1200" dirty="0" err="1"/>
              <a:t>low-bit</a:t>
            </a:r>
            <a:r>
              <a:rPr lang="ko-KR" altLang="ko-KR" sz="1200" dirty="0"/>
              <a:t> </a:t>
            </a:r>
            <a:r>
              <a:rPr lang="ko-KR" altLang="ko-KR" sz="1200" dirty="0" err="1"/>
              <a:t>quantization</a:t>
            </a:r>
            <a:endParaRPr lang="en-US" altLang="ko-KR" sz="1200" dirty="0"/>
          </a:p>
          <a:p>
            <a:pPr marL="584200" lvl="1" indent="-127000">
              <a:spcBef>
                <a:spcPts val="0"/>
              </a:spcBef>
              <a:buSzPts val="1800"/>
            </a:pPr>
            <a:r>
              <a:rPr lang="ko-KR" altLang="ko-KR" sz="1200" dirty="0" err="1">
                <a:solidFill>
                  <a:schemeClr val="tx2"/>
                </a:solidFill>
              </a:rPr>
              <a:t>no</a:t>
            </a:r>
            <a:r>
              <a:rPr lang="ko-KR" altLang="ko-KR" sz="1200" dirty="0">
                <a:solidFill>
                  <a:schemeClr val="tx2"/>
                </a:solidFill>
              </a:rPr>
              <a:t> </a:t>
            </a:r>
            <a:r>
              <a:rPr lang="ko-KR" altLang="ko-KR" sz="1200" dirty="0" err="1">
                <a:solidFill>
                  <a:schemeClr val="tx2"/>
                </a:solidFill>
              </a:rPr>
              <a:t>runtime</a:t>
            </a:r>
            <a:r>
              <a:rPr lang="ko-KR" altLang="ko-KR" sz="1200" dirty="0">
                <a:solidFill>
                  <a:schemeClr val="tx2"/>
                </a:solidFill>
              </a:rPr>
              <a:t> </a:t>
            </a:r>
            <a:r>
              <a:rPr lang="ko-KR" altLang="ko-KR" sz="1200" dirty="0" err="1">
                <a:solidFill>
                  <a:schemeClr val="tx2"/>
                </a:solidFill>
              </a:rPr>
              <a:t>overhead</a:t>
            </a:r>
            <a:r>
              <a:rPr lang="ko-KR" altLang="en-US" sz="1200" dirty="0">
                <a:solidFill>
                  <a:schemeClr val="tx2"/>
                </a:solidFill>
              </a:rPr>
              <a:t> </a:t>
            </a:r>
            <a:r>
              <a:rPr lang="en-US" altLang="ko-KR" sz="1200" dirty="0">
                <a:solidFill>
                  <a:schemeClr val="tx2"/>
                </a:solidFill>
              </a:rPr>
              <a:t>- </a:t>
            </a:r>
            <a:r>
              <a:rPr lang="ko-KR" altLang="ko-KR" sz="1200" dirty="0" err="1"/>
              <a:t>rotations</a:t>
            </a:r>
            <a:r>
              <a:rPr lang="ko-KR" altLang="ko-KR" sz="1200" dirty="0"/>
              <a:t> </a:t>
            </a:r>
            <a:r>
              <a:rPr lang="ko-KR" altLang="ko-KR" sz="1200" dirty="0" err="1"/>
              <a:t>are</a:t>
            </a:r>
            <a:r>
              <a:rPr lang="ko-KR" altLang="ko-KR" sz="1200" dirty="0"/>
              <a:t> </a:t>
            </a:r>
            <a:r>
              <a:rPr lang="ko-KR" altLang="ko-KR" sz="1200" dirty="0" err="1"/>
              <a:t>absorbed</a:t>
            </a:r>
            <a:r>
              <a:rPr lang="ko-KR" altLang="ko-KR" sz="1200" dirty="0"/>
              <a:t> </a:t>
            </a:r>
            <a:r>
              <a:rPr lang="ko-KR" altLang="ko-KR" sz="1200" dirty="0" err="1"/>
              <a:t>into</a:t>
            </a:r>
            <a:r>
              <a:rPr lang="ko-KR" altLang="ko-KR" sz="1200" dirty="0"/>
              <a:t> </a:t>
            </a:r>
            <a:r>
              <a:rPr lang="ko-KR" altLang="ko-KR" sz="1200" dirty="0" err="1"/>
              <a:t>the</a:t>
            </a:r>
            <a:r>
              <a:rPr lang="ko-KR" altLang="ko-KR" sz="1200" dirty="0"/>
              <a:t> </a:t>
            </a:r>
            <a:r>
              <a:rPr lang="ko-KR" altLang="ko-KR" sz="1200" dirty="0" err="1"/>
              <a:t>weights</a:t>
            </a:r>
            <a:endParaRPr lang="en-US" altLang="ko-KR" sz="12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5008BFC-1F27-9589-E749-A5BD86F1AB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7745" y="1186228"/>
            <a:ext cx="4580400" cy="191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259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>
          <a:extLst>
            <a:ext uri="{FF2B5EF4-FFF2-40B4-BE49-F238E27FC236}">
              <a16:creationId xmlns:a16="http://schemas.microsoft.com/office/drawing/2014/main" id="{8921394D-0FEA-8D24-823C-420BF3DEE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f63937a9f2_0_31">
            <a:extLst>
              <a:ext uri="{FF2B5EF4-FFF2-40B4-BE49-F238E27FC236}">
                <a16:creationId xmlns:a16="http://schemas.microsoft.com/office/drawing/2014/main" id="{DA31F554-FE71-1FAD-6FD1-B656BA616C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1475" y="301687"/>
            <a:ext cx="8390400" cy="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None/>
            </a:pPr>
            <a:r>
              <a:rPr lang="en-US" altLang="ko" dirty="0"/>
              <a:t>Symmetric </a:t>
            </a:r>
            <a:r>
              <a:rPr lang="en-US" altLang="ko" dirty="0" err="1"/>
              <a:t>v.s</a:t>
            </a:r>
            <a:r>
              <a:rPr lang="en-US" altLang="ko" dirty="0"/>
              <a:t>. Asymmetric</a:t>
            </a:r>
            <a:endParaRPr lang="ko" altLang="en-US" dirty="0"/>
          </a:p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None/>
            </a:pPr>
            <a:endParaRPr lang="ko-KR" altLang="en-US" dirty="0"/>
          </a:p>
        </p:txBody>
      </p:sp>
      <p:sp>
        <p:nvSpPr>
          <p:cNvPr id="263" name="Google Shape;263;g3f63937a9f2_0_31">
            <a:extLst>
              <a:ext uri="{FF2B5EF4-FFF2-40B4-BE49-F238E27FC236}">
                <a16:creationId xmlns:a16="http://schemas.microsoft.com/office/drawing/2014/main" id="{FEC2A3F7-5F4F-E04D-3B30-80BD7DA2B905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70642" y="640532"/>
            <a:ext cx="8391300" cy="20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indent="0">
              <a:spcBef>
                <a:spcPts val="0"/>
              </a:spcBef>
            </a:pPr>
            <a:r>
              <a:rPr lang="en-US" altLang="ko" dirty="0" err="1"/>
              <a:t>Quantizaer</a:t>
            </a:r>
            <a:endParaRPr lang="en" altLang="ko" dirty="0"/>
          </a:p>
        </p:txBody>
      </p:sp>
      <p:sp>
        <p:nvSpPr>
          <p:cNvPr id="264" name="Google Shape;264;g3f63937a9f2_0_31">
            <a:extLst>
              <a:ext uri="{FF2B5EF4-FFF2-40B4-BE49-F238E27FC236}">
                <a16:creationId xmlns:a16="http://schemas.microsoft.com/office/drawing/2014/main" id="{F1F08065-A96B-8CD0-B83D-D58164D586BA}"/>
              </a:ext>
            </a:extLst>
          </p:cNvPr>
          <p:cNvSpPr txBox="1"/>
          <p:nvPr/>
        </p:nvSpPr>
        <p:spPr>
          <a:xfrm>
            <a:off x="11151" y="4924600"/>
            <a:ext cx="4580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5" name="Google Shape;265;g3f63937a9f2_0_31">
            <a:extLst>
              <a:ext uri="{FF2B5EF4-FFF2-40B4-BE49-F238E27FC236}">
                <a16:creationId xmlns:a16="http://schemas.microsoft.com/office/drawing/2014/main" id="{E5719F83-BB65-13BA-B674-300D756A16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1475" y="970030"/>
            <a:ext cx="8488045" cy="3879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0" indent="-127000">
              <a:spcBef>
                <a:spcPts val="0"/>
              </a:spcBef>
              <a:buSzPts val="1800"/>
            </a:pPr>
            <a:r>
              <a:rPr lang="en-US" sz="1600" b="1" dirty="0"/>
              <a:t>Symmetric </a:t>
            </a:r>
            <a:r>
              <a:rPr lang="en-US" sz="1600" b="1" dirty="0" err="1"/>
              <a:t>Quntization</a:t>
            </a:r>
            <a:endParaRPr lang="en-US" sz="1600" b="1" dirty="0"/>
          </a:p>
          <a:p>
            <a:pPr marL="584200" lvl="1" indent="-127000">
              <a:spcBef>
                <a:spcPts val="0"/>
              </a:spcBef>
              <a:buSzPts val="1800"/>
            </a:pPr>
            <a:r>
              <a:rPr lang="en-US" altLang="ko-KR" sz="1200" dirty="0"/>
              <a:t>Weights are zero-centered</a:t>
            </a:r>
          </a:p>
          <a:p>
            <a:pPr marL="457200" lvl="1" indent="0">
              <a:spcBef>
                <a:spcPts val="0"/>
              </a:spcBef>
              <a:buSzPts val="1800"/>
              <a:buNone/>
            </a:pPr>
            <a:endParaRPr lang="en-US" altLang="ko-KR" sz="1200" dirty="0"/>
          </a:p>
          <a:p>
            <a:pPr marL="457200" lvl="1" indent="0">
              <a:spcBef>
                <a:spcPts val="0"/>
              </a:spcBef>
              <a:buSzPts val="1800"/>
              <a:buNone/>
            </a:pPr>
            <a:endParaRPr lang="en-US" altLang="ko-KR" sz="1200" dirty="0"/>
          </a:p>
          <a:p>
            <a:pPr marL="127000" indent="-127000">
              <a:spcBef>
                <a:spcPts val="0"/>
              </a:spcBef>
              <a:buSzPts val="1800"/>
            </a:pPr>
            <a:r>
              <a:rPr lang="en-US" altLang="ko-KR" sz="1600" b="1" dirty="0"/>
              <a:t>Asymmetric </a:t>
            </a:r>
            <a:r>
              <a:rPr lang="en-US" altLang="ko-KR" sz="1600" b="1" dirty="0" err="1"/>
              <a:t>Quntization</a:t>
            </a:r>
            <a:endParaRPr lang="en-US" altLang="ko-KR" sz="1600" b="1" dirty="0"/>
          </a:p>
          <a:p>
            <a:pPr marL="584200" lvl="1" indent="-127000">
              <a:spcBef>
                <a:spcPts val="0"/>
              </a:spcBef>
              <a:buSzPts val="1800"/>
            </a:pPr>
            <a:r>
              <a:rPr lang="en-US" altLang="ko-KR" sz="1200" dirty="0"/>
              <a:t>Activations are not necessarily zero-centered(activation function)</a:t>
            </a:r>
          </a:p>
          <a:p>
            <a:pPr marL="584200" lvl="1" indent="-127000">
              <a:spcBef>
                <a:spcPts val="0"/>
              </a:spcBef>
              <a:buSzPts val="1800"/>
            </a:pPr>
            <a:r>
              <a:rPr lang="en-US" altLang="ko-KR" sz="1200" dirty="0"/>
              <a:t>Common for activations in CNNs</a:t>
            </a:r>
          </a:p>
          <a:p>
            <a:pPr marL="584200" lvl="1" indent="-127000">
              <a:spcBef>
                <a:spcPts val="0"/>
              </a:spcBef>
              <a:buSzPts val="1800"/>
            </a:pPr>
            <a:r>
              <a:rPr lang="en-US" altLang="ko-KR" sz="1200" dirty="0"/>
              <a:t>Most KV Cache(KIVI, </a:t>
            </a:r>
            <a:r>
              <a:rPr lang="en-US" altLang="ko-KR" sz="1200" dirty="0" err="1"/>
              <a:t>CalibQuant</a:t>
            </a:r>
            <a:r>
              <a:rPr lang="en-US" altLang="ko-KR" sz="1200" dirty="0"/>
              <a:t>, </a:t>
            </a:r>
            <a:r>
              <a:rPr lang="en-US" altLang="ko-KR" sz="1200" dirty="0" err="1"/>
              <a:t>VidKV</a:t>
            </a:r>
            <a:r>
              <a:rPr lang="en-US" altLang="ko-KR" sz="1200" dirty="0"/>
              <a:t>, …</a:t>
            </a:r>
          </a:p>
          <a:p>
            <a:pPr marL="1041400" lvl="2" indent="-127000">
              <a:spcBef>
                <a:spcPts val="0"/>
              </a:spcBef>
              <a:buSzPts val="1800"/>
            </a:pPr>
            <a:r>
              <a:rPr kumimoji="0" lang="en-US" altLang="ko-KR" i="0" u="none" strike="noStrike" kern="0" cap="none" spc="0" normalizeH="0" baseline="0" noProof="0" dirty="0">
                <a:ln>
                  <a:noFill/>
                </a:ln>
                <a:solidFill>
                  <a:srgbClr val="0B2742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Exceptional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B2742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: </a:t>
            </a:r>
            <a:r>
              <a:rPr kumimoji="0" lang="en-US" altLang="ko-KR" i="0" u="none" strike="noStrike" kern="0" cap="none" spc="0" normalizeH="0" baseline="0" noProof="0" dirty="0">
                <a:ln>
                  <a:noFill/>
                </a:ln>
                <a:solidFill>
                  <a:srgbClr val="0B2742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1bit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B2742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 </a:t>
            </a:r>
          </a:p>
          <a:p>
            <a:pPr marL="0" indent="0">
              <a:spcBef>
                <a:spcPts val="0"/>
              </a:spcBef>
              <a:buSzPts val="1800"/>
              <a:buNone/>
            </a:pPr>
            <a:endParaRPr lang="ko-KR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2868009-AD56-0C92-1292-EA91FF71BE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4294" y="3045751"/>
            <a:ext cx="5493689" cy="208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877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1B1457BA-C808-26F3-4C51-CAD626811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>
            <a:extLst>
              <a:ext uri="{FF2B5EF4-FFF2-40B4-BE49-F238E27FC236}">
                <a16:creationId xmlns:a16="http://schemas.microsoft.com/office/drawing/2014/main" id="{57FE179B-A15F-396D-A6EF-CD956642DF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1475" y="299837"/>
            <a:ext cx="83904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None/>
            </a:pPr>
            <a:r>
              <a:rPr lang="en-US" altLang="ko" dirty="0"/>
              <a:t>Granularity</a:t>
            </a:r>
            <a:endParaRPr dirty="0"/>
          </a:p>
        </p:txBody>
      </p:sp>
      <p:sp>
        <p:nvSpPr>
          <p:cNvPr id="77" name="Google Shape;77;p2">
            <a:extLst>
              <a:ext uri="{FF2B5EF4-FFF2-40B4-BE49-F238E27FC236}">
                <a16:creationId xmlns:a16="http://schemas.microsoft.com/office/drawing/2014/main" id="{AEA296F0-FC5E-D8DA-C11B-F90A60D4ED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1475" y="970022"/>
            <a:ext cx="3806630" cy="351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 indent="-1270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Per-Tensor</a:t>
            </a:r>
          </a:p>
          <a:p>
            <a:pPr marL="127000" lvl="0" indent="-1270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endParaRPr lang="en-US" sz="1800" b="1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27000" lvl="0" indent="-1270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endParaRPr lang="en-US" sz="1800" b="1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27000" lvl="0" indent="-1270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endParaRPr lang="en-US" sz="1800" b="1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27000" lvl="0" indent="-1270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endParaRPr lang="en-US" sz="1800" b="1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endParaRPr lang="en-US" sz="1800" b="1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27000" lvl="0" indent="-1270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endParaRPr lang="en-US" sz="1800" b="1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27000" lvl="0" indent="-1270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endParaRPr lang="en-US" sz="1800" b="1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27000" lvl="0" indent="-1270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Per-Group</a:t>
            </a:r>
          </a:p>
        </p:txBody>
      </p:sp>
      <p:sp>
        <p:nvSpPr>
          <p:cNvPr id="78" name="Google Shape;78;p2">
            <a:extLst>
              <a:ext uri="{FF2B5EF4-FFF2-40B4-BE49-F238E27FC236}">
                <a16:creationId xmlns:a16="http://schemas.microsoft.com/office/drawing/2014/main" id="{B393CB62-4869-4831-AF22-0CDAF608D22D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70642" y="629372"/>
            <a:ext cx="8391300" cy="2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>
              <a:spcBef>
                <a:spcPts val="0"/>
              </a:spcBef>
            </a:pPr>
            <a:r>
              <a:rPr lang="en-US" altLang="ko" dirty="0"/>
              <a:t>Quantization</a:t>
            </a:r>
            <a:endParaRPr dirty="0"/>
          </a:p>
        </p:txBody>
      </p:sp>
      <p:sp>
        <p:nvSpPr>
          <p:cNvPr id="79" name="Google Shape;79;p2">
            <a:extLst>
              <a:ext uri="{FF2B5EF4-FFF2-40B4-BE49-F238E27FC236}">
                <a16:creationId xmlns:a16="http://schemas.microsoft.com/office/drawing/2014/main" id="{95AF759C-FC91-3D25-672A-9A3135809B1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6246" y="4995068"/>
            <a:ext cx="4465540" cy="121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253DC"/>
              </a:buClr>
              <a:buSzPts val="800"/>
              <a:buFont typeface="Arial"/>
              <a:buNone/>
            </a:pPr>
            <a:endParaRPr/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E79A240C-9BE8-8811-C3BD-2C72A3D4E3DC}"/>
              </a:ext>
            </a:extLst>
          </p:cNvPr>
          <p:cNvSpPr/>
          <p:nvPr/>
        </p:nvSpPr>
        <p:spPr>
          <a:xfrm>
            <a:off x="962317" y="1320800"/>
            <a:ext cx="3018840" cy="15875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" name="Google Shape;77;p2">
            <a:extLst>
              <a:ext uri="{FF2B5EF4-FFF2-40B4-BE49-F238E27FC236}">
                <a16:creationId xmlns:a16="http://schemas.microsoft.com/office/drawing/2014/main" id="{37FF574A-4D3D-CD59-4813-AA70B15B608B}"/>
              </a:ext>
            </a:extLst>
          </p:cNvPr>
          <p:cNvSpPr txBox="1">
            <a:spLocks/>
          </p:cNvSpPr>
          <p:nvPr/>
        </p:nvSpPr>
        <p:spPr>
          <a:xfrm>
            <a:off x="4566292" y="1002833"/>
            <a:ext cx="3806630" cy="351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•"/>
              <a:defRPr sz="1500" b="0" i="0" u="none" strike="noStrike" cap="none" spc="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 spc="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sz="1100" b="0" i="0" u="none" strike="noStrike" cap="none" spc="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sz="1100" b="0" i="0" u="none" strike="noStrike" cap="none" spc="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23850" algn="l" rtl="0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•"/>
              <a:defRPr sz="1500" b="0" i="0" u="none" strike="noStrike" cap="none" spc="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96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​"/>
              <a:defRPr sz="1600" b="0" i="0" u="none" strike="noStrike" cap="none" spc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17500" algn="l" rtl="0">
              <a:lnSpc>
                <a:spcPct val="107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​"/>
              <a:defRPr sz="1200" b="0" i="0" u="none" strike="noStrike" cap="none" spc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17500" algn="l" rtl="0">
              <a:lnSpc>
                <a:spcPct val="87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​"/>
              <a:defRPr sz="4100" b="0" i="0" u="none" strike="noStrike" cap="none" spc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17500" algn="l" rtl="0">
              <a:lnSpc>
                <a:spcPct val="87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​"/>
              <a:defRPr sz="5100" b="0" i="0" u="none" strike="noStrike" cap="none" spc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127000" indent="-127000">
              <a:spcBef>
                <a:spcPts val="0"/>
              </a:spcBef>
              <a:buSzPts val="1800"/>
            </a:pPr>
            <a:r>
              <a:rPr lang="en-US"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Per-Channel</a:t>
            </a:r>
          </a:p>
          <a:p>
            <a:pPr marL="127000" indent="-127000">
              <a:spcBef>
                <a:spcPts val="0"/>
              </a:spcBef>
              <a:buSzPts val="1800"/>
            </a:pPr>
            <a:endParaRPr lang="en-US" sz="1800" b="1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27000" indent="-127000">
              <a:spcBef>
                <a:spcPts val="0"/>
              </a:spcBef>
              <a:buSzPts val="1800"/>
            </a:pPr>
            <a:endParaRPr lang="en-US" sz="1800" b="1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27000" indent="-127000">
              <a:spcBef>
                <a:spcPts val="0"/>
              </a:spcBef>
              <a:buSzPts val="1800"/>
            </a:pPr>
            <a:endParaRPr lang="en-US" sz="1800" b="1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27000" indent="-127000">
              <a:spcBef>
                <a:spcPts val="0"/>
              </a:spcBef>
              <a:buSzPts val="1800"/>
            </a:pPr>
            <a:endParaRPr lang="en-US" sz="1800" b="1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27000" indent="-127000">
              <a:spcBef>
                <a:spcPts val="0"/>
              </a:spcBef>
              <a:buSzPts val="1800"/>
            </a:pPr>
            <a:endParaRPr lang="en-US" sz="1800" b="1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27000" indent="-127000">
              <a:spcBef>
                <a:spcPts val="0"/>
              </a:spcBef>
              <a:buSzPts val="1800"/>
            </a:pPr>
            <a:endParaRPr lang="en-US" sz="1800" b="1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27000" indent="-127000">
              <a:spcBef>
                <a:spcPts val="0"/>
              </a:spcBef>
              <a:buSzPts val="1800"/>
            </a:pPr>
            <a:endParaRPr lang="en-US" sz="1800" b="1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27000" indent="-127000">
              <a:spcBef>
                <a:spcPts val="0"/>
              </a:spcBef>
              <a:buSzPts val="1800"/>
            </a:pPr>
            <a:r>
              <a:rPr lang="en-US"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Per-Token</a:t>
            </a:r>
            <a:endParaRPr lang="en" sz="1200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0" name="Per-Channel rounded segment 1">
            <a:extLst>
              <a:ext uri="{FF2B5EF4-FFF2-40B4-BE49-F238E27FC236}">
                <a16:creationId xmlns:a16="http://schemas.microsoft.com/office/drawing/2014/main" id="{75E4F2D1-5531-5F2A-D0D4-00F560B772BA}"/>
              </a:ext>
            </a:extLst>
          </p:cNvPr>
          <p:cNvSpPr/>
          <p:nvPr/>
        </p:nvSpPr>
        <p:spPr>
          <a:xfrm>
            <a:off x="4960187" y="1320800"/>
            <a:ext cx="332905" cy="15875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1" name="Per-Channel rounded segment 2">
            <a:extLst>
              <a:ext uri="{FF2B5EF4-FFF2-40B4-BE49-F238E27FC236}">
                <a16:creationId xmlns:a16="http://schemas.microsoft.com/office/drawing/2014/main" id="{75E4F2D1-5531-5F2A-D0D4-00F560B772BA}"/>
              </a:ext>
            </a:extLst>
          </p:cNvPr>
          <p:cNvSpPr/>
          <p:nvPr/>
        </p:nvSpPr>
        <p:spPr>
          <a:xfrm>
            <a:off x="5343892" y="1320800"/>
            <a:ext cx="332905" cy="15875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2" name="Per-Channel rounded segment 3">
            <a:extLst>
              <a:ext uri="{FF2B5EF4-FFF2-40B4-BE49-F238E27FC236}">
                <a16:creationId xmlns:a16="http://schemas.microsoft.com/office/drawing/2014/main" id="{75E4F2D1-5531-5F2A-D0D4-00F560B772BA}"/>
              </a:ext>
            </a:extLst>
          </p:cNvPr>
          <p:cNvSpPr/>
          <p:nvPr/>
        </p:nvSpPr>
        <p:spPr>
          <a:xfrm>
            <a:off x="5727597" y="1320800"/>
            <a:ext cx="332905" cy="15875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3" name="Per-Channel rounded segment 4">
            <a:extLst>
              <a:ext uri="{FF2B5EF4-FFF2-40B4-BE49-F238E27FC236}">
                <a16:creationId xmlns:a16="http://schemas.microsoft.com/office/drawing/2014/main" id="{75E4F2D1-5531-5F2A-D0D4-00F560B772BA}"/>
              </a:ext>
            </a:extLst>
          </p:cNvPr>
          <p:cNvSpPr/>
          <p:nvPr/>
        </p:nvSpPr>
        <p:spPr>
          <a:xfrm>
            <a:off x="6111302" y="1320800"/>
            <a:ext cx="332905" cy="15875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4" name="Per-Channel rounded segment 5">
            <a:extLst>
              <a:ext uri="{FF2B5EF4-FFF2-40B4-BE49-F238E27FC236}">
                <a16:creationId xmlns:a16="http://schemas.microsoft.com/office/drawing/2014/main" id="{75E4F2D1-5531-5F2A-D0D4-00F560B772BA}"/>
              </a:ext>
            </a:extLst>
          </p:cNvPr>
          <p:cNvSpPr/>
          <p:nvPr/>
        </p:nvSpPr>
        <p:spPr>
          <a:xfrm>
            <a:off x="6495007" y="1320800"/>
            <a:ext cx="332905" cy="15875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5" name="Per-Channel rounded segment 6">
            <a:extLst>
              <a:ext uri="{FF2B5EF4-FFF2-40B4-BE49-F238E27FC236}">
                <a16:creationId xmlns:a16="http://schemas.microsoft.com/office/drawing/2014/main" id="{75E4F2D1-5531-5F2A-D0D4-00F560B772BA}"/>
              </a:ext>
            </a:extLst>
          </p:cNvPr>
          <p:cNvSpPr/>
          <p:nvPr/>
        </p:nvSpPr>
        <p:spPr>
          <a:xfrm>
            <a:off x="6878712" y="1320800"/>
            <a:ext cx="332905" cy="15875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6" name="Per-Channel rounded segment 7">
            <a:extLst>
              <a:ext uri="{FF2B5EF4-FFF2-40B4-BE49-F238E27FC236}">
                <a16:creationId xmlns:a16="http://schemas.microsoft.com/office/drawing/2014/main" id="{75E4F2D1-5531-5F2A-D0D4-00F560B772BA}"/>
              </a:ext>
            </a:extLst>
          </p:cNvPr>
          <p:cNvSpPr/>
          <p:nvPr/>
        </p:nvSpPr>
        <p:spPr>
          <a:xfrm>
            <a:off x="7262417" y="1320800"/>
            <a:ext cx="332905" cy="15875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7" name="Per-Channel rounded segment 8">
            <a:extLst>
              <a:ext uri="{FF2B5EF4-FFF2-40B4-BE49-F238E27FC236}">
                <a16:creationId xmlns:a16="http://schemas.microsoft.com/office/drawing/2014/main" id="{75E4F2D1-5531-5F2A-D0D4-00F560B772BA}"/>
              </a:ext>
            </a:extLst>
          </p:cNvPr>
          <p:cNvSpPr/>
          <p:nvPr/>
        </p:nvSpPr>
        <p:spPr>
          <a:xfrm>
            <a:off x="7646122" y="1320800"/>
            <a:ext cx="332905" cy="15875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2" name="Per-Token rounded segment 1">
            <a:extLst>
              <a:ext uri="{FF2B5EF4-FFF2-40B4-BE49-F238E27FC236}">
                <a16:creationId xmlns:a16="http://schemas.microsoft.com/office/drawing/2014/main" id="{8A9212B1-22B5-6A73-E5A7-83635D8627F6}"/>
              </a:ext>
            </a:extLst>
          </p:cNvPr>
          <p:cNvSpPr/>
          <p:nvPr/>
        </p:nvSpPr>
        <p:spPr>
          <a:xfrm>
            <a:off x="4960187" y="3416300"/>
            <a:ext cx="3018840" cy="220133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3" name="Per-Token rounded segment 2">
            <a:extLst>
              <a:ext uri="{FF2B5EF4-FFF2-40B4-BE49-F238E27FC236}">
                <a16:creationId xmlns:a16="http://schemas.microsoft.com/office/drawing/2014/main" id="{8A9212B1-22B5-6A73-E5A7-83635D8627F6}"/>
              </a:ext>
            </a:extLst>
          </p:cNvPr>
          <p:cNvSpPr/>
          <p:nvPr/>
        </p:nvSpPr>
        <p:spPr>
          <a:xfrm>
            <a:off x="4960187" y="3687233"/>
            <a:ext cx="3018840" cy="220133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4" name="Per-Token rounded segment 3">
            <a:extLst>
              <a:ext uri="{FF2B5EF4-FFF2-40B4-BE49-F238E27FC236}">
                <a16:creationId xmlns:a16="http://schemas.microsoft.com/office/drawing/2014/main" id="{8A9212B1-22B5-6A73-E5A7-83635D8627F6}"/>
              </a:ext>
            </a:extLst>
          </p:cNvPr>
          <p:cNvSpPr/>
          <p:nvPr/>
        </p:nvSpPr>
        <p:spPr>
          <a:xfrm>
            <a:off x="4960187" y="3958166"/>
            <a:ext cx="3018840" cy="220133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5" name="Per-Token rounded segment 4">
            <a:extLst>
              <a:ext uri="{FF2B5EF4-FFF2-40B4-BE49-F238E27FC236}">
                <a16:creationId xmlns:a16="http://schemas.microsoft.com/office/drawing/2014/main" id="{8A9212B1-22B5-6A73-E5A7-83635D8627F6}"/>
              </a:ext>
            </a:extLst>
          </p:cNvPr>
          <p:cNvSpPr/>
          <p:nvPr/>
        </p:nvSpPr>
        <p:spPr>
          <a:xfrm>
            <a:off x="4960187" y="4229100"/>
            <a:ext cx="3018840" cy="220133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6" name="Per-Token rounded segment 5">
            <a:extLst>
              <a:ext uri="{FF2B5EF4-FFF2-40B4-BE49-F238E27FC236}">
                <a16:creationId xmlns:a16="http://schemas.microsoft.com/office/drawing/2014/main" id="{8A9212B1-22B5-6A73-E5A7-83635D8627F6}"/>
              </a:ext>
            </a:extLst>
          </p:cNvPr>
          <p:cNvSpPr/>
          <p:nvPr/>
        </p:nvSpPr>
        <p:spPr>
          <a:xfrm>
            <a:off x="4960187" y="4500033"/>
            <a:ext cx="3018840" cy="220133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7" name="Per-Token rounded segment 6">
            <a:extLst>
              <a:ext uri="{FF2B5EF4-FFF2-40B4-BE49-F238E27FC236}">
                <a16:creationId xmlns:a16="http://schemas.microsoft.com/office/drawing/2014/main" id="{8A9212B1-22B5-6A73-E5A7-83635D8627F6}"/>
              </a:ext>
            </a:extLst>
          </p:cNvPr>
          <p:cNvSpPr/>
          <p:nvPr/>
        </p:nvSpPr>
        <p:spPr>
          <a:xfrm>
            <a:off x="4960187" y="4770966"/>
            <a:ext cx="3018840" cy="220133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6" name="Granularity Axis Tensor Row 1"/>
          <p:cNvSpPr txBox="1"/>
          <p:nvPr/>
        </p:nvSpPr>
        <p:spPr>
          <a:xfrm>
            <a:off x="378117" y="1395941"/>
            <a:ext cx="53340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/>
            <a:r>
              <a:rPr lang="en-US" sz="650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Token 1</a:t>
            </a:r>
            <a:endParaRPr lang="en-US" sz="650">
              <a:solidFill>
                <a:srgbClr val="53657A"/>
              </a:solidFill>
            </a:endParaRPr>
          </a:p>
        </p:txBody>
      </p:sp>
      <p:sp>
        <p:nvSpPr>
          <p:cNvPr id="127" name="Granularity Axis Tensor Row 2"/>
          <p:cNvSpPr txBox="1"/>
          <p:nvPr/>
        </p:nvSpPr>
        <p:spPr>
          <a:xfrm>
            <a:off x="378117" y="1660525"/>
            <a:ext cx="53340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/>
            <a:r>
              <a:rPr lang="en-US" sz="650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Token 2</a:t>
            </a:r>
            <a:endParaRPr lang="en-US" sz="650">
              <a:solidFill>
                <a:srgbClr val="53657A"/>
              </a:solidFill>
            </a:endParaRPr>
          </a:p>
        </p:txBody>
      </p:sp>
      <p:sp>
        <p:nvSpPr>
          <p:cNvPr id="128" name="Granularity Axis Tensor Row 3"/>
          <p:cNvSpPr txBox="1"/>
          <p:nvPr/>
        </p:nvSpPr>
        <p:spPr>
          <a:xfrm>
            <a:off x="378117" y="1925108"/>
            <a:ext cx="53340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/>
            <a:r>
              <a:rPr lang="en-US" sz="650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Token 3</a:t>
            </a:r>
            <a:endParaRPr lang="en-US" sz="650">
              <a:solidFill>
                <a:srgbClr val="53657A"/>
              </a:solidFill>
            </a:endParaRPr>
          </a:p>
        </p:txBody>
      </p:sp>
      <p:sp>
        <p:nvSpPr>
          <p:cNvPr id="129" name="Granularity Axis Tensor Row 4"/>
          <p:cNvSpPr txBox="1"/>
          <p:nvPr/>
        </p:nvSpPr>
        <p:spPr>
          <a:xfrm>
            <a:off x="378117" y="2189691"/>
            <a:ext cx="53340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/>
            <a:r>
              <a:rPr lang="en-US" sz="650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Token 4</a:t>
            </a:r>
            <a:endParaRPr lang="en-US" sz="650">
              <a:solidFill>
                <a:srgbClr val="53657A"/>
              </a:solidFill>
            </a:endParaRPr>
          </a:p>
        </p:txBody>
      </p:sp>
      <p:sp>
        <p:nvSpPr>
          <p:cNvPr id="130" name="Granularity Axis Tensor Row 5"/>
          <p:cNvSpPr txBox="1"/>
          <p:nvPr/>
        </p:nvSpPr>
        <p:spPr>
          <a:xfrm>
            <a:off x="378117" y="2454274"/>
            <a:ext cx="53340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/>
            <a:r>
              <a:rPr lang="en-US" sz="650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Token 5</a:t>
            </a:r>
            <a:endParaRPr lang="en-US" sz="650">
              <a:solidFill>
                <a:srgbClr val="53657A"/>
              </a:solidFill>
            </a:endParaRPr>
          </a:p>
        </p:txBody>
      </p:sp>
      <p:sp>
        <p:nvSpPr>
          <p:cNvPr id="131" name="Granularity Axis Tensor Row 6"/>
          <p:cNvSpPr txBox="1"/>
          <p:nvPr/>
        </p:nvSpPr>
        <p:spPr>
          <a:xfrm>
            <a:off x="378117" y="2718858"/>
            <a:ext cx="53340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/>
            <a:r>
              <a:rPr lang="en-US" sz="650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Token 6</a:t>
            </a:r>
            <a:endParaRPr lang="en-US" sz="650">
              <a:solidFill>
                <a:srgbClr val="53657A"/>
              </a:solidFill>
            </a:endParaRPr>
          </a:p>
        </p:txBody>
      </p:sp>
      <p:sp>
        <p:nvSpPr>
          <p:cNvPr id="140" name="Granularity Axis Channel Row 1"/>
          <p:cNvSpPr txBox="1"/>
          <p:nvPr/>
        </p:nvSpPr>
        <p:spPr>
          <a:xfrm>
            <a:off x="4375987" y="1395941"/>
            <a:ext cx="53340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/>
            <a:r>
              <a:rPr lang="en-US" sz="650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Token 1</a:t>
            </a:r>
            <a:endParaRPr lang="en-US" sz="650">
              <a:solidFill>
                <a:srgbClr val="53657A"/>
              </a:solidFill>
            </a:endParaRPr>
          </a:p>
        </p:txBody>
      </p:sp>
      <p:sp>
        <p:nvSpPr>
          <p:cNvPr id="141" name="Granularity Axis Channel Row 2"/>
          <p:cNvSpPr txBox="1"/>
          <p:nvPr/>
        </p:nvSpPr>
        <p:spPr>
          <a:xfrm>
            <a:off x="4375987" y="1660525"/>
            <a:ext cx="53340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/>
            <a:r>
              <a:rPr lang="en-US" sz="650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Token 2</a:t>
            </a:r>
            <a:endParaRPr lang="en-US" sz="650">
              <a:solidFill>
                <a:srgbClr val="53657A"/>
              </a:solidFill>
            </a:endParaRPr>
          </a:p>
        </p:txBody>
      </p:sp>
      <p:sp>
        <p:nvSpPr>
          <p:cNvPr id="142" name="Granularity Axis Channel Row 3"/>
          <p:cNvSpPr txBox="1"/>
          <p:nvPr/>
        </p:nvSpPr>
        <p:spPr>
          <a:xfrm>
            <a:off x="4375987" y="1925108"/>
            <a:ext cx="53340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/>
            <a:r>
              <a:rPr lang="en-US" sz="650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Token 3</a:t>
            </a:r>
            <a:endParaRPr lang="en-US" sz="650">
              <a:solidFill>
                <a:srgbClr val="53657A"/>
              </a:solidFill>
            </a:endParaRPr>
          </a:p>
        </p:txBody>
      </p:sp>
      <p:sp>
        <p:nvSpPr>
          <p:cNvPr id="143" name="Granularity Axis Channel Row 4"/>
          <p:cNvSpPr txBox="1"/>
          <p:nvPr/>
        </p:nvSpPr>
        <p:spPr>
          <a:xfrm>
            <a:off x="4375987" y="2189691"/>
            <a:ext cx="53340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/>
            <a:r>
              <a:rPr lang="en-US" sz="650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Token 4</a:t>
            </a:r>
            <a:endParaRPr lang="en-US" sz="650">
              <a:solidFill>
                <a:srgbClr val="53657A"/>
              </a:solidFill>
            </a:endParaRPr>
          </a:p>
        </p:txBody>
      </p:sp>
      <p:sp>
        <p:nvSpPr>
          <p:cNvPr id="144" name="Granularity Axis Channel Row 5"/>
          <p:cNvSpPr txBox="1"/>
          <p:nvPr/>
        </p:nvSpPr>
        <p:spPr>
          <a:xfrm>
            <a:off x="4375987" y="2454274"/>
            <a:ext cx="53340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/>
            <a:r>
              <a:rPr lang="en-US" sz="650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Token 5</a:t>
            </a:r>
            <a:endParaRPr lang="en-US" sz="650">
              <a:solidFill>
                <a:srgbClr val="53657A"/>
              </a:solidFill>
            </a:endParaRPr>
          </a:p>
        </p:txBody>
      </p:sp>
      <p:sp>
        <p:nvSpPr>
          <p:cNvPr id="145" name="Granularity Axis Channel Row 6"/>
          <p:cNvSpPr txBox="1"/>
          <p:nvPr/>
        </p:nvSpPr>
        <p:spPr>
          <a:xfrm>
            <a:off x="4375987" y="2718858"/>
            <a:ext cx="53340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/>
            <a:r>
              <a:rPr lang="en-US" sz="650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Token 6</a:t>
            </a:r>
            <a:endParaRPr lang="en-US" sz="650">
              <a:solidFill>
                <a:srgbClr val="53657A"/>
              </a:solidFill>
            </a:endParaRPr>
          </a:p>
        </p:txBody>
      </p:sp>
      <p:sp>
        <p:nvSpPr>
          <p:cNvPr id="150" name="Granularity Axis Group Row 1"/>
          <p:cNvSpPr txBox="1"/>
          <p:nvPr/>
        </p:nvSpPr>
        <p:spPr>
          <a:xfrm>
            <a:off x="298450" y="3594100"/>
            <a:ext cx="609600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/>
            <a:r>
              <a:rPr lang="en-US" sz="650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Token 1–2</a:t>
            </a:r>
            <a:endParaRPr lang="en-US" sz="650">
              <a:solidFill>
                <a:srgbClr val="53657A"/>
              </a:solidFill>
            </a:endParaRPr>
          </a:p>
        </p:txBody>
      </p:sp>
      <p:sp>
        <p:nvSpPr>
          <p:cNvPr id="153" name="Granularity Axis Group Row 4"/>
          <p:cNvSpPr txBox="1"/>
          <p:nvPr/>
        </p:nvSpPr>
        <p:spPr>
          <a:xfrm>
            <a:off x="298450" y="4140200"/>
            <a:ext cx="609600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/>
            <a:r>
              <a:rPr lang="en-US" sz="650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Token 3–4</a:t>
            </a:r>
            <a:endParaRPr lang="en-US" sz="650">
              <a:solidFill>
                <a:srgbClr val="53657A"/>
              </a:solidFill>
            </a:endParaRPr>
          </a:p>
        </p:txBody>
      </p:sp>
      <p:sp>
        <p:nvSpPr>
          <p:cNvPr id="164" name="Granularity Axis Token Row 1"/>
          <p:cNvSpPr txBox="1"/>
          <p:nvPr/>
        </p:nvSpPr>
        <p:spPr>
          <a:xfrm>
            <a:off x="4375987" y="3490383"/>
            <a:ext cx="53340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/>
            <a:r>
              <a:rPr lang="en-US" sz="650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Token 1</a:t>
            </a:r>
            <a:endParaRPr lang="en-US" sz="650">
              <a:solidFill>
                <a:srgbClr val="53657A"/>
              </a:solidFill>
            </a:endParaRPr>
          </a:p>
        </p:txBody>
      </p:sp>
      <p:sp>
        <p:nvSpPr>
          <p:cNvPr id="165" name="Granularity Axis Token Row 2"/>
          <p:cNvSpPr txBox="1"/>
          <p:nvPr/>
        </p:nvSpPr>
        <p:spPr>
          <a:xfrm>
            <a:off x="4375987" y="3752850"/>
            <a:ext cx="53340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/>
            <a:r>
              <a:rPr lang="en-US" sz="650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Token 2</a:t>
            </a:r>
            <a:endParaRPr lang="en-US" sz="650">
              <a:solidFill>
                <a:srgbClr val="53657A"/>
              </a:solidFill>
            </a:endParaRPr>
          </a:p>
        </p:txBody>
      </p:sp>
      <p:sp>
        <p:nvSpPr>
          <p:cNvPr id="166" name="Granularity Axis Token Row 3"/>
          <p:cNvSpPr txBox="1"/>
          <p:nvPr/>
        </p:nvSpPr>
        <p:spPr>
          <a:xfrm>
            <a:off x="4375987" y="4015316"/>
            <a:ext cx="53340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/>
            <a:r>
              <a:rPr lang="en-US" sz="650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Token 3</a:t>
            </a:r>
            <a:endParaRPr lang="en-US" sz="650">
              <a:solidFill>
                <a:srgbClr val="53657A"/>
              </a:solidFill>
            </a:endParaRPr>
          </a:p>
        </p:txBody>
      </p:sp>
      <p:sp>
        <p:nvSpPr>
          <p:cNvPr id="167" name="Granularity Axis Token Row 4"/>
          <p:cNvSpPr txBox="1"/>
          <p:nvPr/>
        </p:nvSpPr>
        <p:spPr>
          <a:xfrm>
            <a:off x="4375987" y="4277783"/>
            <a:ext cx="53340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/>
            <a:r>
              <a:rPr lang="en-US" sz="650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Token 4</a:t>
            </a:r>
            <a:endParaRPr lang="en-US" sz="650">
              <a:solidFill>
                <a:srgbClr val="53657A"/>
              </a:solidFill>
            </a:endParaRPr>
          </a:p>
        </p:txBody>
      </p:sp>
      <p:sp>
        <p:nvSpPr>
          <p:cNvPr id="168" name="Granularity Axis Token Row 5"/>
          <p:cNvSpPr txBox="1"/>
          <p:nvPr/>
        </p:nvSpPr>
        <p:spPr>
          <a:xfrm>
            <a:off x="4375987" y="4540250"/>
            <a:ext cx="53340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/>
            <a:r>
              <a:rPr lang="en-US" sz="650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Token 5</a:t>
            </a:r>
            <a:endParaRPr lang="en-US" sz="650">
              <a:solidFill>
                <a:srgbClr val="53657A"/>
              </a:solidFill>
            </a:endParaRPr>
          </a:p>
        </p:txBody>
      </p:sp>
      <p:sp>
        <p:nvSpPr>
          <p:cNvPr id="169" name="Granularity Axis Token Row 6"/>
          <p:cNvSpPr txBox="1"/>
          <p:nvPr/>
        </p:nvSpPr>
        <p:spPr>
          <a:xfrm>
            <a:off x="4375987" y="4802716"/>
            <a:ext cx="53340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/>
            <a:r>
              <a:rPr lang="en-US" sz="650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Token 6</a:t>
            </a:r>
            <a:endParaRPr lang="en-US" sz="650">
              <a:solidFill>
                <a:srgbClr val="53657A"/>
              </a:solidFill>
            </a:endParaRPr>
          </a:p>
        </p:txBody>
      </p:sp>
      <p:sp>
        <p:nvSpPr>
          <p:cNvPr id="118" name="Granularity Axis Tensor Col 1"/>
          <p:cNvSpPr txBox="1"/>
          <p:nvPr/>
        </p:nvSpPr>
        <p:spPr>
          <a:xfrm>
            <a:off x="962317" y="1181100"/>
            <a:ext cx="37735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700" b="1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d₁</a:t>
            </a:r>
            <a:endParaRPr lang="en-US" sz="700" b="1">
              <a:solidFill>
                <a:srgbClr val="53657A"/>
              </a:solidFill>
            </a:endParaRPr>
          </a:p>
        </p:txBody>
      </p:sp>
      <p:sp>
        <p:nvSpPr>
          <p:cNvPr id="119" name="Granularity Axis Tensor Col 2"/>
          <p:cNvSpPr txBox="1"/>
          <p:nvPr/>
        </p:nvSpPr>
        <p:spPr>
          <a:xfrm>
            <a:off x="1339672" y="1181100"/>
            <a:ext cx="37735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700" b="1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d₂</a:t>
            </a:r>
            <a:endParaRPr lang="en-US" sz="700" b="1">
              <a:solidFill>
                <a:srgbClr val="53657A"/>
              </a:solidFill>
            </a:endParaRPr>
          </a:p>
        </p:txBody>
      </p:sp>
      <p:sp>
        <p:nvSpPr>
          <p:cNvPr id="120" name="Granularity Axis Tensor Col 3"/>
          <p:cNvSpPr txBox="1"/>
          <p:nvPr/>
        </p:nvSpPr>
        <p:spPr>
          <a:xfrm>
            <a:off x="1717027" y="1181100"/>
            <a:ext cx="37735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700" b="1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d₃</a:t>
            </a:r>
            <a:endParaRPr lang="en-US" sz="700" b="1">
              <a:solidFill>
                <a:srgbClr val="53657A"/>
              </a:solidFill>
            </a:endParaRPr>
          </a:p>
        </p:txBody>
      </p:sp>
      <p:sp>
        <p:nvSpPr>
          <p:cNvPr id="121" name="Granularity Axis Tensor Col 4"/>
          <p:cNvSpPr txBox="1"/>
          <p:nvPr/>
        </p:nvSpPr>
        <p:spPr>
          <a:xfrm>
            <a:off x="2094382" y="1181100"/>
            <a:ext cx="37735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700" b="1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d₄</a:t>
            </a:r>
            <a:endParaRPr lang="en-US" sz="700" b="1">
              <a:solidFill>
                <a:srgbClr val="53657A"/>
              </a:solidFill>
            </a:endParaRPr>
          </a:p>
        </p:txBody>
      </p:sp>
      <p:sp>
        <p:nvSpPr>
          <p:cNvPr id="122" name="Granularity Axis Tensor Col 5"/>
          <p:cNvSpPr txBox="1"/>
          <p:nvPr/>
        </p:nvSpPr>
        <p:spPr>
          <a:xfrm>
            <a:off x="2471737" y="1181100"/>
            <a:ext cx="37735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700" b="1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d₅</a:t>
            </a:r>
            <a:endParaRPr lang="en-US" sz="700" b="1">
              <a:solidFill>
                <a:srgbClr val="53657A"/>
              </a:solidFill>
            </a:endParaRPr>
          </a:p>
        </p:txBody>
      </p:sp>
      <p:sp>
        <p:nvSpPr>
          <p:cNvPr id="123" name="Granularity Axis Tensor Col 6"/>
          <p:cNvSpPr txBox="1"/>
          <p:nvPr/>
        </p:nvSpPr>
        <p:spPr>
          <a:xfrm>
            <a:off x="2849092" y="1181100"/>
            <a:ext cx="37735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700" b="1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d₆</a:t>
            </a:r>
            <a:endParaRPr lang="en-US" sz="700" b="1">
              <a:solidFill>
                <a:srgbClr val="53657A"/>
              </a:solidFill>
            </a:endParaRPr>
          </a:p>
        </p:txBody>
      </p:sp>
      <p:sp>
        <p:nvSpPr>
          <p:cNvPr id="124" name="Granularity Axis Tensor Col 7"/>
          <p:cNvSpPr txBox="1"/>
          <p:nvPr/>
        </p:nvSpPr>
        <p:spPr>
          <a:xfrm>
            <a:off x="3226447" y="1181100"/>
            <a:ext cx="37735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700" b="1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d₇</a:t>
            </a:r>
            <a:endParaRPr lang="en-US" sz="700" b="1">
              <a:solidFill>
                <a:srgbClr val="53657A"/>
              </a:solidFill>
            </a:endParaRPr>
          </a:p>
        </p:txBody>
      </p:sp>
      <p:sp>
        <p:nvSpPr>
          <p:cNvPr id="125" name="Granularity Axis Tensor Col 8"/>
          <p:cNvSpPr txBox="1"/>
          <p:nvPr/>
        </p:nvSpPr>
        <p:spPr>
          <a:xfrm>
            <a:off x="3603802" y="1181100"/>
            <a:ext cx="37735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700" b="1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d₈</a:t>
            </a:r>
            <a:endParaRPr lang="en-US" sz="700" b="1">
              <a:solidFill>
                <a:srgbClr val="53657A"/>
              </a:solidFill>
            </a:endParaRPr>
          </a:p>
        </p:txBody>
      </p:sp>
      <p:sp>
        <p:nvSpPr>
          <p:cNvPr id="132" name="Granularity Axis Channel Col 1"/>
          <p:cNvSpPr txBox="1"/>
          <p:nvPr/>
        </p:nvSpPr>
        <p:spPr>
          <a:xfrm>
            <a:off x="4960187" y="1181100"/>
            <a:ext cx="37735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700" b="1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d₁</a:t>
            </a:r>
            <a:endParaRPr lang="en-US" sz="700" b="1">
              <a:solidFill>
                <a:srgbClr val="53657A"/>
              </a:solidFill>
            </a:endParaRPr>
          </a:p>
        </p:txBody>
      </p:sp>
      <p:sp>
        <p:nvSpPr>
          <p:cNvPr id="133" name="Granularity Axis Channel Col 2"/>
          <p:cNvSpPr txBox="1"/>
          <p:nvPr/>
        </p:nvSpPr>
        <p:spPr>
          <a:xfrm>
            <a:off x="5337542" y="1181100"/>
            <a:ext cx="37735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700" b="1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d₂</a:t>
            </a:r>
            <a:endParaRPr lang="en-US" sz="700" b="1">
              <a:solidFill>
                <a:srgbClr val="53657A"/>
              </a:solidFill>
            </a:endParaRPr>
          </a:p>
        </p:txBody>
      </p:sp>
      <p:sp>
        <p:nvSpPr>
          <p:cNvPr id="134" name="Granularity Axis Channel Col 3"/>
          <p:cNvSpPr txBox="1"/>
          <p:nvPr/>
        </p:nvSpPr>
        <p:spPr>
          <a:xfrm>
            <a:off x="5714897" y="1181100"/>
            <a:ext cx="37735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700" b="1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d₃</a:t>
            </a:r>
            <a:endParaRPr lang="en-US" sz="700" b="1">
              <a:solidFill>
                <a:srgbClr val="53657A"/>
              </a:solidFill>
            </a:endParaRPr>
          </a:p>
        </p:txBody>
      </p:sp>
      <p:sp>
        <p:nvSpPr>
          <p:cNvPr id="135" name="Granularity Axis Channel Col 4"/>
          <p:cNvSpPr txBox="1"/>
          <p:nvPr/>
        </p:nvSpPr>
        <p:spPr>
          <a:xfrm>
            <a:off x="6092252" y="1181100"/>
            <a:ext cx="37735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700" b="1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d₄</a:t>
            </a:r>
            <a:endParaRPr lang="en-US" sz="700" b="1">
              <a:solidFill>
                <a:srgbClr val="53657A"/>
              </a:solidFill>
            </a:endParaRPr>
          </a:p>
        </p:txBody>
      </p:sp>
      <p:sp>
        <p:nvSpPr>
          <p:cNvPr id="136" name="Granularity Axis Channel Col 5"/>
          <p:cNvSpPr txBox="1"/>
          <p:nvPr/>
        </p:nvSpPr>
        <p:spPr>
          <a:xfrm>
            <a:off x="6469607" y="1181100"/>
            <a:ext cx="37735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700" b="1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d₅</a:t>
            </a:r>
            <a:endParaRPr lang="en-US" sz="700" b="1">
              <a:solidFill>
                <a:srgbClr val="53657A"/>
              </a:solidFill>
            </a:endParaRPr>
          </a:p>
        </p:txBody>
      </p:sp>
      <p:sp>
        <p:nvSpPr>
          <p:cNvPr id="137" name="Granularity Axis Channel Col 6"/>
          <p:cNvSpPr txBox="1"/>
          <p:nvPr/>
        </p:nvSpPr>
        <p:spPr>
          <a:xfrm>
            <a:off x="6846962" y="1181100"/>
            <a:ext cx="37735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700" b="1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d₆</a:t>
            </a:r>
            <a:endParaRPr lang="en-US" sz="700" b="1">
              <a:solidFill>
                <a:srgbClr val="53657A"/>
              </a:solidFill>
            </a:endParaRPr>
          </a:p>
        </p:txBody>
      </p:sp>
      <p:sp>
        <p:nvSpPr>
          <p:cNvPr id="138" name="Granularity Axis Channel Col 7"/>
          <p:cNvSpPr txBox="1"/>
          <p:nvPr/>
        </p:nvSpPr>
        <p:spPr>
          <a:xfrm>
            <a:off x="7224317" y="1181100"/>
            <a:ext cx="37735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700" b="1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d₇</a:t>
            </a:r>
            <a:endParaRPr lang="en-US" sz="700" b="1">
              <a:solidFill>
                <a:srgbClr val="53657A"/>
              </a:solidFill>
            </a:endParaRPr>
          </a:p>
        </p:txBody>
      </p:sp>
      <p:sp>
        <p:nvSpPr>
          <p:cNvPr id="139" name="Granularity Axis Channel Col 8"/>
          <p:cNvSpPr txBox="1"/>
          <p:nvPr/>
        </p:nvSpPr>
        <p:spPr>
          <a:xfrm>
            <a:off x="7601672" y="1181100"/>
            <a:ext cx="37735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700" b="1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d₈</a:t>
            </a:r>
            <a:endParaRPr lang="en-US" sz="700" b="1">
              <a:solidFill>
                <a:srgbClr val="53657A"/>
              </a:solidFill>
            </a:endParaRPr>
          </a:p>
        </p:txBody>
      </p:sp>
      <p:sp>
        <p:nvSpPr>
          <p:cNvPr id="156" name="Granularity Axis Token Col 1"/>
          <p:cNvSpPr txBox="1"/>
          <p:nvPr/>
        </p:nvSpPr>
        <p:spPr>
          <a:xfrm>
            <a:off x="4960187" y="3276600"/>
            <a:ext cx="37735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700" b="1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d₁</a:t>
            </a:r>
            <a:endParaRPr lang="en-US" sz="700" b="1">
              <a:solidFill>
                <a:srgbClr val="53657A"/>
              </a:solidFill>
            </a:endParaRPr>
          </a:p>
        </p:txBody>
      </p:sp>
      <p:sp>
        <p:nvSpPr>
          <p:cNvPr id="157" name="Granularity Axis Token Col 2"/>
          <p:cNvSpPr txBox="1"/>
          <p:nvPr/>
        </p:nvSpPr>
        <p:spPr>
          <a:xfrm>
            <a:off x="5337542" y="3276600"/>
            <a:ext cx="37735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700" b="1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d₂</a:t>
            </a:r>
            <a:endParaRPr lang="en-US" sz="700" b="1">
              <a:solidFill>
                <a:srgbClr val="53657A"/>
              </a:solidFill>
            </a:endParaRPr>
          </a:p>
        </p:txBody>
      </p:sp>
      <p:sp>
        <p:nvSpPr>
          <p:cNvPr id="158" name="Granularity Axis Token Col 3"/>
          <p:cNvSpPr txBox="1"/>
          <p:nvPr/>
        </p:nvSpPr>
        <p:spPr>
          <a:xfrm>
            <a:off x="5714897" y="3276600"/>
            <a:ext cx="37735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700" b="1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d₃</a:t>
            </a:r>
            <a:endParaRPr lang="en-US" sz="700" b="1">
              <a:solidFill>
                <a:srgbClr val="53657A"/>
              </a:solidFill>
            </a:endParaRPr>
          </a:p>
        </p:txBody>
      </p:sp>
      <p:sp>
        <p:nvSpPr>
          <p:cNvPr id="159" name="Granularity Axis Token Col 4"/>
          <p:cNvSpPr txBox="1"/>
          <p:nvPr/>
        </p:nvSpPr>
        <p:spPr>
          <a:xfrm>
            <a:off x="6092252" y="3276600"/>
            <a:ext cx="37735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700" b="1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d₄</a:t>
            </a:r>
            <a:endParaRPr lang="en-US" sz="700" b="1">
              <a:solidFill>
                <a:srgbClr val="53657A"/>
              </a:solidFill>
            </a:endParaRPr>
          </a:p>
        </p:txBody>
      </p:sp>
      <p:sp>
        <p:nvSpPr>
          <p:cNvPr id="160" name="Granularity Axis Token Col 5"/>
          <p:cNvSpPr txBox="1"/>
          <p:nvPr/>
        </p:nvSpPr>
        <p:spPr>
          <a:xfrm>
            <a:off x="6469607" y="3276600"/>
            <a:ext cx="37735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700" b="1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d₅</a:t>
            </a:r>
            <a:endParaRPr lang="en-US" sz="700" b="1">
              <a:solidFill>
                <a:srgbClr val="53657A"/>
              </a:solidFill>
            </a:endParaRPr>
          </a:p>
        </p:txBody>
      </p:sp>
      <p:sp>
        <p:nvSpPr>
          <p:cNvPr id="161" name="Granularity Axis Token Col 6"/>
          <p:cNvSpPr txBox="1"/>
          <p:nvPr/>
        </p:nvSpPr>
        <p:spPr>
          <a:xfrm>
            <a:off x="6846962" y="3276600"/>
            <a:ext cx="37735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700" b="1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d₆</a:t>
            </a:r>
            <a:endParaRPr lang="en-US" sz="700" b="1">
              <a:solidFill>
                <a:srgbClr val="53657A"/>
              </a:solidFill>
            </a:endParaRPr>
          </a:p>
        </p:txBody>
      </p:sp>
      <p:sp>
        <p:nvSpPr>
          <p:cNvPr id="162" name="Granularity Axis Token Col 7"/>
          <p:cNvSpPr txBox="1"/>
          <p:nvPr/>
        </p:nvSpPr>
        <p:spPr>
          <a:xfrm>
            <a:off x="7224317" y="3276600"/>
            <a:ext cx="37735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700" b="1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d₇</a:t>
            </a:r>
            <a:endParaRPr lang="en-US" sz="700" b="1">
              <a:solidFill>
                <a:srgbClr val="53657A"/>
              </a:solidFill>
            </a:endParaRPr>
          </a:p>
        </p:txBody>
      </p:sp>
      <p:sp>
        <p:nvSpPr>
          <p:cNvPr id="163" name="Granularity Axis Token Col 8"/>
          <p:cNvSpPr txBox="1"/>
          <p:nvPr/>
        </p:nvSpPr>
        <p:spPr>
          <a:xfrm>
            <a:off x="7601672" y="3276600"/>
            <a:ext cx="37735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700" b="1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d₈</a:t>
            </a:r>
            <a:endParaRPr lang="en-US" sz="700" b="1">
              <a:solidFill>
                <a:srgbClr val="53657A"/>
              </a:solidFill>
            </a:endParaRPr>
          </a:p>
        </p:txBody>
      </p:sp>
      <p:sp>
        <p:nvSpPr>
          <p:cNvPr id="192" name="Per-Group Tokens 1-2 Channel 1">
            <a:extLst>
              <a:ext uri="{FF2B5EF4-FFF2-40B4-BE49-F238E27FC236}">
                <a16:creationId xmlns:a16="http://schemas.microsoft.com/office/drawing/2014/main" id="{75E4F2D1-5531-5F2A-D0D4-00F560B772BA}"/>
              </a:ext>
            </a:extLst>
          </p:cNvPr>
          <p:cNvSpPr/>
          <p:nvPr/>
        </p:nvSpPr>
        <p:spPr>
          <a:xfrm>
            <a:off x="962316" y="3416300"/>
            <a:ext cx="3018840" cy="4826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0" name="Per-Group Tokens 3-4 Channel 1">
            <a:extLst>
              <a:ext uri="{FF2B5EF4-FFF2-40B4-BE49-F238E27FC236}">
                <a16:creationId xmlns:a16="http://schemas.microsoft.com/office/drawing/2014/main" id="{75E4F2D1-5531-5F2A-D0D4-00F560B772BA}"/>
              </a:ext>
            </a:extLst>
          </p:cNvPr>
          <p:cNvSpPr/>
          <p:nvPr/>
        </p:nvSpPr>
        <p:spPr>
          <a:xfrm>
            <a:off x="962316" y="3962400"/>
            <a:ext cx="3018840" cy="4826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8" name="Per-Group Tokens 5-6 Channel 1">
            <a:extLst>
              <a:ext uri="{FF2B5EF4-FFF2-40B4-BE49-F238E27FC236}">
                <a16:creationId xmlns:a16="http://schemas.microsoft.com/office/drawing/2014/main" id="{75E4F2D1-5531-5F2A-D0D4-00F560B772BA}"/>
              </a:ext>
            </a:extLst>
          </p:cNvPr>
          <p:cNvSpPr/>
          <p:nvPr/>
        </p:nvSpPr>
        <p:spPr>
          <a:xfrm>
            <a:off x="962316" y="4508500"/>
            <a:ext cx="3018840" cy="4826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25" name="Granularity Axis Group d1"/>
          <p:cNvSpPr txBox="1"/>
          <p:nvPr/>
        </p:nvSpPr>
        <p:spPr>
          <a:xfrm>
            <a:off x="962317" y="3276600"/>
            <a:ext cx="37735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700" b="1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d1</a:t>
            </a:r>
            <a:endParaRPr lang="en-US" sz="700" b="1">
              <a:solidFill>
                <a:srgbClr val="53657A"/>
              </a:solidFill>
            </a:endParaRPr>
          </a:p>
        </p:txBody>
      </p:sp>
      <p:sp>
        <p:nvSpPr>
          <p:cNvPr id="226" name="Granularity Axis Group d2"/>
          <p:cNvSpPr txBox="1"/>
          <p:nvPr/>
        </p:nvSpPr>
        <p:spPr>
          <a:xfrm>
            <a:off x="1339672" y="3276600"/>
            <a:ext cx="37735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700" b="1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d2</a:t>
            </a:r>
            <a:endParaRPr lang="en-US" sz="700" b="1">
              <a:solidFill>
                <a:srgbClr val="53657A"/>
              </a:solidFill>
            </a:endParaRPr>
          </a:p>
        </p:txBody>
      </p:sp>
      <p:sp>
        <p:nvSpPr>
          <p:cNvPr id="227" name="Granularity Axis Group d3"/>
          <p:cNvSpPr txBox="1"/>
          <p:nvPr/>
        </p:nvSpPr>
        <p:spPr>
          <a:xfrm>
            <a:off x="1717027" y="3276600"/>
            <a:ext cx="37735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700" b="1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d3</a:t>
            </a:r>
            <a:endParaRPr lang="en-US" sz="700" b="1">
              <a:solidFill>
                <a:srgbClr val="53657A"/>
              </a:solidFill>
            </a:endParaRPr>
          </a:p>
        </p:txBody>
      </p:sp>
      <p:sp>
        <p:nvSpPr>
          <p:cNvPr id="228" name="Granularity Axis Group d4"/>
          <p:cNvSpPr txBox="1"/>
          <p:nvPr/>
        </p:nvSpPr>
        <p:spPr>
          <a:xfrm>
            <a:off x="2094382" y="3276600"/>
            <a:ext cx="37735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700" b="1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d4</a:t>
            </a:r>
            <a:endParaRPr lang="en-US" sz="700" b="1">
              <a:solidFill>
                <a:srgbClr val="53657A"/>
              </a:solidFill>
            </a:endParaRPr>
          </a:p>
        </p:txBody>
      </p:sp>
      <p:sp>
        <p:nvSpPr>
          <p:cNvPr id="229" name="Granularity Axis Group d5"/>
          <p:cNvSpPr txBox="1"/>
          <p:nvPr/>
        </p:nvSpPr>
        <p:spPr>
          <a:xfrm>
            <a:off x="2471737" y="3276600"/>
            <a:ext cx="37735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700" b="1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d5</a:t>
            </a:r>
            <a:endParaRPr lang="en-US" sz="700" b="1">
              <a:solidFill>
                <a:srgbClr val="53657A"/>
              </a:solidFill>
            </a:endParaRPr>
          </a:p>
        </p:txBody>
      </p:sp>
      <p:sp>
        <p:nvSpPr>
          <p:cNvPr id="230" name="Granularity Axis Group d6"/>
          <p:cNvSpPr txBox="1"/>
          <p:nvPr/>
        </p:nvSpPr>
        <p:spPr>
          <a:xfrm>
            <a:off x="2849092" y="3276600"/>
            <a:ext cx="37735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700" b="1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d6</a:t>
            </a:r>
            <a:endParaRPr lang="en-US" sz="700" b="1">
              <a:solidFill>
                <a:srgbClr val="53657A"/>
              </a:solidFill>
            </a:endParaRPr>
          </a:p>
        </p:txBody>
      </p:sp>
      <p:sp>
        <p:nvSpPr>
          <p:cNvPr id="231" name="Granularity Axis Group d7"/>
          <p:cNvSpPr txBox="1"/>
          <p:nvPr/>
        </p:nvSpPr>
        <p:spPr>
          <a:xfrm>
            <a:off x="3226447" y="3276600"/>
            <a:ext cx="37735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700" b="1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d7</a:t>
            </a:r>
            <a:endParaRPr lang="en-US" sz="700" b="1">
              <a:solidFill>
                <a:srgbClr val="53657A"/>
              </a:solidFill>
            </a:endParaRPr>
          </a:p>
        </p:txBody>
      </p:sp>
      <p:sp>
        <p:nvSpPr>
          <p:cNvPr id="232" name="Granularity Axis Group d8"/>
          <p:cNvSpPr txBox="1"/>
          <p:nvPr/>
        </p:nvSpPr>
        <p:spPr>
          <a:xfrm>
            <a:off x="3603802" y="3276600"/>
            <a:ext cx="37735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700" b="1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d8</a:t>
            </a:r>
            <a:endParaRPr lang="en-US" sz="700" b="1">
              <a:solidFill>
                <a:srgbClr val="53657A"/>
              </a:solidFill>
            </a:endParaRPr>
          </a:p>
        </p:txBody>
      </p:sp>
      <p:sp>
        <p:nvSpPr>
          <p:cNvPr id="224" name="Granularity Axis Group Token 5-6"/>
          <p:cNvSpPr txBox="1"/>
          <p:nvPr/>
        </p:nvSpPr>
        <p:spPr>
          <a:xfrm>
            <a:off x="298450" y="4686300"/>
            <a:ext cx="609600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/>
            <a:r>
              <a:rPr lang="en-US" sz="650">
                <a:solidFill>
                  <a:srgbClr val="53657A"/>
                </a:solidFill>
                <a:latin typeface="Malgun Gothic"/>
                <a:ea typeface="Malgun Gothic"/>
                <a:cs typeface="Malgun Gothic"/>
              </a:rPr>
              <a:t>Token 5–6</a:t>
            </a:r>
            <a:endParaRPr lang="en-US" sz="650">
              <a:solidFill>
                <a:srgbClr val="53657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3449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5fa42d7dc_0_471"/>
          <p:cNvSpPr txBox="1">
            <a:spLocks noGrp="1"/>
          </p:cNvSpPr>
          <p:nvPr>
            <p:ph type="title"/>
          </p:nvPr>
        </p:nvSpPr>
        <p:spPr>
          <a:xfrm>
            <a:off x="371475" y="301687"/>
            <a:ext cx="8390400" cy="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None/>
            </a:pPr>
            <a:r>
              <a:rPr lang="ko" dirty="0"/>
              <a:t>Range Setting</a:t>
            </a:r>
            <a:endParaRPr dirty="0"/>
          </a:p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None/>
            </a:pPr>
            <a:endParaRPr dirty="0"/>
          </a:p>
        </p:txBody>
      </p:sp>
      <p:sp>
        <p:nvSpPr>
          <p:cNvPr id="187" name="Google Shape;187;g3f5fa42d7dc_0_471"/>
          <p:cNvSpPr txBox="1">
            <a:spLocks noGrp="1"/>
          </p:cNvSpPr>
          <p:nvPr>
            <p:ph type="subTitle" idx="2"/>
          </p:nvPr>
        </p:nvSpPr>
        <p:spPr>
          <a:xfrm>
            <a:off x="370642" y="640457"/>
            <a:ext cx="8391300" cy="2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lang="ko">
                <a:solidFill>
                  <a:srgbClr val="142B3D"/>
                </a:solidFill>
              </a:rPr>
              <a:t>Post Training Quantization(PTQ)</a:t>
            </a:r>
            <a:endParaRPr>
              <a:solidFill>
                <a:srgbClr val="142B3D"/>
              </a:solidFill>
            </a:endParaRPr>
          </a:p>
        </p:txBody>
      </p:sp>
      <p:sp>
        <p:nvSpPr>
          <p:cNvPr id="188" name="Google Shape;188;g3f5fa42d7dc_0_471"/>
          <p:cNvSpPr txBox="1"/>
          <p:nvPr/>
        </p:nvSpPr>
        <p:spPr>
          <a:xfrm>
            <a:off x="11151" y="4924600"/>
            <a:ext cx="4580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" name="MinMax Heading">
            <a:extLst>
              <a:ext uri="{FF2B5EF4-FFF2-40B4-BE49-F238E27FC236}">
                <a16:creationId xmlns:a16="http://schemas.microsoft.com/office/drawing/2014/main" id="{3B5D85D6-92B3-A14A-A399-892732FD77CB}"/>
              </a:ext>
            </a:extLst>
          </p:cNvPr>
          <p:cNvSpPr txBox="1"/>
          <p:nvPr/>
        </p:nvSpPr>
        <p:spPr>
          <a:xfrm>
            <a:off x="584200" y="1244600"/>
            <a:ext cx="1905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" altLang="ko-KR" sz="1900" b="1">
                <a:solidFill>
                  <a:srgbClr val="E32636"/>
                </a:solidFill>
              </a:rPr>
              <a:t>Min–Max</a:t>
            </a:r>
            <a:endParaRPr lang="ko-KR" altLang="en-US" sz="1900" b="1">
              <a:solidFill>
                <a:srgbClr val="E32636"/>
              </a:solidFill>
            </a:endParaRPr>
          </a:p>
        </p:txBody>
      </p:sp>
      <p:sp>
        <p:nvSpPr>
          <p:cNvPr id="7" name="Delta Symbol">
            <a:extLst>
              <a:ext uri="{FF2B5EF4-FFF2-40B4-BE49-F238E27FC236}">
                <a16:creationId xmlns:a16="http://schemas.microsoft.com/office/drawing/2014/main" id="{570DA0DE-8138-CC44-84A5-3DAF1BE3FCF4}"/>
              </a:ext>
            </a:extLst>
          </p:cNvPr>
          <p:cNvSpPr txBox="1"/>
          <p:nvPr/>
        </p:nvSpPr>
        <p:spPr>
          <a:xfrm>
            <a:off x="927100" y="1689100"/>
            <a:ext cx="3175000" cy="381000"/>
          </a:xfrm>
          <a:prstGeom prst="rect">
            <a:avLst/>
          </a:prstGeom>
          <a:noFill/>
        </p:spPr>
        <p:txBody>
          <a:bodyPr vertOverflow="overflow" vert="horz" wrap="none" rtlCol="0" anchor="t">
            <a:normAutofit/>
          </a:bodyPr>
          <a:lstStyle/>
          <a:p>
            <a:pPr algn="l"/>
            <a:r>
              <a:rPr lang="el-GR" altLang="ko-KR" sz="1600" dirty="0">
                <a:solidFill>
                  <a:srgbClr val="142B3D"/>
                </a:solidFill>
                <a:latin typeface="Cambria Math"/>
                <a:ea typeface="Cambria Math"/>
              </a:rPr>
              <a:t>Δ = (</a:t>
            </a:r>
            <a:r>
              <a:rPr lang="en" altLang="ko-KR" sz="1600" dirty="0">
                <a:solidFill>
                  <a:srgbClr val="142B3D"/>
                </a:solidFill>
                <a:latin typeface="Cambria Math"/>
                <a:ea typeface="Cambria Math"/>
              </a:rPr>
              <a:t>xₘₐₓ − xₘᵢₙ) / (2ᵇ − 1)</a:t>
            </a:r>
            <a:endParaRPr lang="ko-KR" altLang="en-US" sz="1600" dirty="0">
              <a:solidFill>
                <a:srgbClr val="142B3D"/>
              </a:solidFill>
              <a:latin typeface="Cambria Math"/>
            </a:endParaRPr>
          </a:p>
        </p:txBody>
      </p:sp>
      <p:sp>
        <p:nvSpPr>
          <p:cNvPr id="11" name="MinMax Z">
            <a:extLst>
              <a:ext uri="{FF2B5EF4-FFF2-40B4-BE49-F238E27FC236}">
                <a16:creationId xmlns:a16="http://schemas.microsoft.com/office/drawing/2014/main" id="{192069D5-83EE-274A-AB2E-DA2D9AA273D1}"/>
              </a:ext>
            </a:extLst>
          </p:cNvPr>
          <p:cNvSpPr txBox="1"/>
          <p:nvPr/>
        </p:nvSpPr>
        <p:spPr>
          <a:xfrm>
            <a:off x="927100" y="2146300"/>
            <a:ext cx="18415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" altLang="ko-KR" sz="1600">
                <a:solidFill>
                  <a:srgbClr val="142B3D"/>
                </a:solidFill>
                <a:latin typeface="Cambria Math"/>
                <a:ea typeface="Cambria Math"/>
              </a:rPr>
              <a:t>z = xₘᵢₙ</a:t>
            </a:r>
            <a:endParaRPr lang="ko-KR" altLang="en-US" sz="1600">
              <a:solidFill>
                <a:srgbClr val="142B3D"/>
              </a:solidFill>
              <a:latin typeface="Cambria Math"/>
            </a:endParaRPr>
          </a:p>
        </p:txBody>
      </p:sp>
      <p:sp>
        <p:nvSpPr>
          <p:cNvPr id="12" name="MinMax Q">
            <a:extLst>
              <a:ext uri="{FF2B5EF4-FFF2-40B4-BE49-F238E27FC236}">
                <a16:creationId xmlns:a16="http://schemas.microsoft.com/office/drawing/2014/main" id="{3CD83984-F79D-7346-A8CD-3C9AE4ADE53C}"/>
              </a:ext>
            </a:extLst>
          </p:cNvPr>
          <p:cNvSpPr txBox="1"/>
          <p:nvPr/>
        </p:nvSpPr>
        <p:spPr>
          <a:xfrm>
            <a:off x="927100" y="2540000"/>
            <a:ext cx="3365500" cy="3429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" altLang="ko-KR" sz="1600" dirty="0">
                <a:solidFill>
                  <a:srgbClr val="142B3D"/>
                </a:solidFill>
                <a:latin typeface="Cambria Math"/>
                <a:ea typeface="Cambria Math"/>
              </a:rPr>
              <a:t>q = round((x − z) / </a:t>
            </a:r>
            <a:r>
              <a:rPr lang="el-GR" altLang="ko-KR" sz="1600" dirty="0">
                <a:solidFill>
                  <a:srgbClr val="142B3D"/>
                </a:solidFill>
                <a:latin typeface="Cambria Math"/>
                <a:ea typeface="Cambria Math"/>
              </a:rPr>
              <a:t>Δ)</a:t>
            </a:r>
            <a:endParaRPr lang="ko-KR" altLang="en-US" sz="1600" dirty="0">
              <a:solidFill>
                <a:srgbClr val="142B3D"/>
              </a:solidFill>
              <a:latin typeface="Cambria Math"/>
            </a:endParaRPr>
          </a:p>
        </p:txBody>
      </p:sp>
      <p:sp>
        <p:nvSpPr>
          <p:cNvPr id="13" name="MinMax Pros Label">
            <a:extLst>
              <a:ext uri="{FF2B5EF4-FFF2-40B4-BE49-F238E27FC236}">
                <a16:creationId xmlns:a16="http://schemas.microsoft.com/office/drawing/2014/main" id="{144827DE-33D2-6542-B967-97A7A7E24A2A}"/>
              </a:ext>
            </a:extLst>
          </p:cNvPr>
          <p:cNvSpPr txBox="1"/>
          <p:nvPr/>
        </p:nvSpPr>
        <p:spPr>
          <a:xfrm>
            <a:off x="927100" y="3175000"/>
            <a:ext cx="609600" cy="2159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" altLang="ko-KR" sz="1000" b="1" dirty="0">
                <a:solidFill>
                  <a:srgbClr val="142B3D"/>
                </a:solidFill>
              </a:rPr>
              <a:t>PROS</a:t>
            </a:r>
            <a:endParaRPr lang="ko-KR" altLang="en-US" sz="1000" b="1" dirty="0">
              <a:solidFill>
                <a:srgbClr val="142B3D"/>
              </a:solidFill>
            </a:endParaRPr>
          </a:p>
        </p:txBody>
      </p:sp>
      <p:sp>
        <p:nvSpPr>
          <p:cNvPr id="14" name="MinMax Pros">
            <a:extLst>
              <a:ext uri="{FF2B5EF4-FFF2-40B4-BE49-F238E27FC236}">
                <a16:creationId xmlns:a16="http://schemas.microsoft.com/office/drawing/2014/main" id="{E36084F1-B5F0-5641-9F98-304F9E88A431}"/>
              </a:ext>
            </a:extLst>
          </p:cNvPr>
          <p:cNvSpPr txBox="1"/>
          <p:nvPr/>
        </p:nvSpPr>
        <p:spPr>
          <a:xfrm>
            <a:off x="1600200" y="3124200"/>
            <a:ext cx="2794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" altLang="ko-KR" sz="1150" dirty="0">
                <a:solidFill>
                  <a:srgbClr val="142B3D"/>
                </a:solidFill>
              </a:rPr>
              <a:t>• No clipping error
• Simple and efficient</a:t>
            </a:r>
            <a:endParaRPr lang="ko-KR" altLang="en-US" sz="1150" dirty="0">
              <a:solidFill>
                <a:srgbClr val="142B3D"/>
              </a:solidFill>
            </a:endParaRPr>
          </a:p>
        </p:txBody>
      </p:sp>
      <p:sp>
        <p:nvSpPr>
          <p:cNvPr id="15" name="MinMax Cons Label">
            <a:extLst>
              <a:ext uri="{FF2B5EF4-FFF2-40B4-BE49-F238E27FC236}">
                <a16:creationId xmlns:a16="http://schemas.microsoft.com/office/drawing/2014/main" id="{19467292-6416-C345-AF27-4B05445D42B6}"/>
              </a:ext>
            </a:extLst>
          </p:cNvPr>
          <p:cNvSpPr txBox="1"/>
          <p:nvPr/>
        </p:nvSpPr>
        <p:spPr>
          <a:xfrm>
            <a:off x="927100" y="3822700"/>
            <a:ext cx="609600" cy="2159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" altLang="ko-KR" sz="1000" b="1">
                <a:solidFill>
                  <a:srgbClr val="142B3D"/>
                </a:solidFill>
              </a:rPr>
              <a:t>CONS</a:t>
            </a:r>
            <a:endParaRPr lang="ko-KR" altLang="en-US" sz="1000" b="1">
              <a:solidFill>
                <a:srgbClr val="142B3D"/>
              </a:solidFill>
            </a:endParaRPr>
          </a:p>
        </p:txBody>
      </p:sp>
      <p:sp>
        <p:nvSpPr>
          <p:cNvPr id="16" name="MinMax Cons">
            <a:extLst>
              <a:ext uri="{FF2B5EF4-FFF2-40B4-BE49-F238E27FC236}">
                <a16:creationId xmlns:a16="http://schemas.microsoft.com/office/drawing/2014/main" id="{43F5C003-8A30-934A-8837-77E54B0A2F93}"/>
              </a:ext>
            </a:extLst>
          </p:cNvPr>
          <p:cNvSpPr txBox="1"/>
          <p:nvPr/>
        </p:nvSpPr>
        <p:spPr>
          <a:xfrm>
            <a:off x="1600200" y="3784600"/>
            <a:ext cx="2794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" altLang="ko-KR" sz="1150">
                <a:solidFill>
                  <a:srgbClr val="142B3D"/>
                </a:solidFill>
              </a:rPr>
              <a:t>• Highly sensitive to outliers</a:t>
            </a:r>
            <a:endParaRPr lang="ko-KR" altLang="en-US" sz="1150">
              <a:solidFill>
                <a:srgbClr val="142B3D"/>
              </a:solidFill>
            </a:endParaRPr>
          </a:p>
        </p:txBody>
      </p:sp>
      <p:sp>
        <p:nvSpPr>
          <p:cNvPr id="17" name="MSE Heading">
            <a:extLst>
              <a:ext uri="{FF2B5EF4-FFF2-40B4-BE49-F238E27FC236}">
                <a16:creationId xmlns:a16="http://schemas.microsoft.com/office/drawing/2014/main" id="{B18AC8AD-5F14-8B4B-BE52-089562CDF7A3}"/>
              </a:ext>
            </a:extLst>
          </p:cNvPr>
          <p:cNvSpPr txBox="1"/>
          <p:nvPr/>
        </p:nvSpPr>
        <p:spPr>
          <a:xfrm>
            <a:off x="4851400" y="1244600"/>
            <a:ext cx="2413000" cy="2921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" altLang="ko-KR" sz="1700" b="1">
                <a:solidFill>
                  <a:srgbClr val="142B3D"/>
                </a:solidFill>
              </a:rPr>
              <a:t>MSE-based Range</a:t>
            </a:r>
            <a:endParaRPr lang="ko-KR" altLang="en-US" sz="1700" b="1">
              <a:solidFill>
                <a:srgbClr val="142B3D"/>
              </a:solidFill>
            </a:endParaRPr>
          </a:p>
        </p:txBody>
      </p:sp>
      <p:sp>
        <p:nvSpPr>
          <p:cNvPr id="21" name="MSE Method">
            <a:extLst>
              <a:ext uri="{FF2B5EF4-FFF2-40B4-BE49-F238E27FC236}">
                <a16:creationId xmlns:a16="http://schemas.microsoft.com/office/drawing/2014/main" id="{5F18587D-812C-6047-BF3E-F94B7DB0DE45}"/>
              </a:ext>
            </a:extLst>
          </p:cNvPr>
          <p:cNvSpPr txBox="1"/>
          <p:nvPr/>
        </p:nvSpPr>
        <p:spPr>
          <a:xfrm>
            <a:off x="4978400" y="2286000"/>
            <a:ext cx="3429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" altLang="ko-KR" sz="1050">
                <a:solidFill>
                  <a:srgbClr val="6B7280"/>
                </a:solidFill>
              </a:rPr>
              <a:t>Select the clipping range that minimizes reconstruction error</a:t>
            </a:r>
            <a:endParaRPr lang="ko-KR" altLang="en-US" sz="1050">
              <a:solidFill>
                <a:srgbClr val="6B7280"/>
              </a:solidFill>
            </a:endParaRPr>
          </a:p>
        </p:txBody>
      </p:sp>
      <p:sp>
        <p:nvSpPr>
          <p:cNvPr id="22" name="MSE Pros Label">
            <a:extLst>
              <a:ext uri="{FF2B5EF4-FFF2-40B4-BE49-F238E27FC236}">
                <a16:creationId xmlns:a16="http://schemas.microsoft.com/office/drawing/2014/main" id="{14246E30-312A-E748-874E-62E6F9470C18}"/>
              </a:ext>
            </a:extLst>
          </p:cNvPr>
          <p:cNvSpPr txBox="1"/>
          <p:nvPr/>
        </p:nvSpPr>
        <p:spPr>
          <a:xfrm>
            <a:off x="4851400" y="3175000"/>
            <a:ext cx="609600" cy="2159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" altLang="ko-KR" sz="1000" b="1">
                <a:solidFill>
                  <a:srgbClr val="142B3D"/>
                </a:solidFill>
              </a:rPr>
              <a:t>PROS</a:t>
            </a:r>
            <a:endParaRPr lang="ko-KR" altLang="en-US" sz="1000" b="1">
              <a:solidFill>
                <a:srgbClr val="142B3D"/>
              </a:solidFill>
            </a:endParaRPr>
          </a:p>
        </p:txBody>
      </p:sp>
      <p:sp>
        <p:nvSpPr>
          <p:cNvPr id="23" name="MSE Pros">
            <a:extLst>
              <a:ext uri="{FF2B5EF4-FFF2-40B4-BE49-F238E27FC236}">
                <a16:creationId xmlns:a16="http://schemas.microsoft.com/office/drawing/2014/main" id="{6762A67B-5B36-1F4B-A21C-63769DC97933}"/>
              </a:ext>
            </a:extLst>
          </p:cNvPr>
          <p:cNvSpPr txBox="1"/>
          <p:nvPr/>
        </p:nvSpPr>
        <p:spPr>
          <a:xfrm>
            <a:off x="5524500" y="3124200"/>
            <a:ext cx="29845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" altLang="ko-KR" sz="1150">
                <a:solidFill>
                  <a:srgbClr val="142B3D"/>
                </a:solidFill>
              </a:rPr>
              <a:t>• Reduces the impact of outliers
• Better reconstruction quality</a:t>
            </a:r>
            <a:endParaRPr lang="ko-KR" altLang="en-US" sz="1150">
              <a:solidFill>
                <a:srgbClr val="142B3D"/>
              </a:solidFill>
            </a:endParaRPr>
          </a:p>
        </p:txBody>
      </p:sp>
      <p:sp>
        <p:nvSpPr>
          <p:cNvPr id="24" name="MSE Cons Label">
            <a:extLst>
              <a:ext uri="{FF2B5EF4-FFF2-40B4-BE49-F238E27FC236}">
                <a16:creationId xmlns:a16="http://schemas.microsoft.com/office/drawing/2014/main" id="{C8943442-FD4B-CA45-AD29-12D47666E597}"/>
              </a:ext>
            </a:extLst>
          </p:cNvPr>
          <p:cNvSpPr txBox="1"/>
          <p:nvPr/>
        </p:nvSpPr>
        <p:spPr>
          <a:xfrm>
            <a:off x="4851400" y="3822700"/>
            <a:ext cx="609600" cy="2159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" altLang="ko-KR" sz="1000" b="1">
                <a:solidFill>
                  <a:srgbClr val="142B3D"/>
                </a:solidFill>
              </a:rPr>
              <a:t>CONS</a:t>
            </a:r>
            <a:endParaRPr lang="ko-KR" altLang="en-US" sz="1000" b="1">
              <a:solidFill>
                <a:srgbClr val="142B3D"/>
              </a:solidFill>
            </a:endParaRPr>
          </a:p>
        </p:txBody>
      </p:sp>
      <p:sp>
        <p:nvSpPr>
          <p:cNvPr id="25" name="MSE Cons">
            <a:extLst>
              <a:ext uri="{FF2B5EF4-FFF2-40B4-BE49-F238E27FC236}">
                <a16:creationId xmlns:a16="http://schemas.microsoft.com/office/drawing/2014/main" id="{9F03A5C2-C7DE-6147-8819-4E0FC7D4DC48}"/>
              </a:ext>
            </a:extLst>
          </p:cNvPr>
          <p:cNvSpPr txBox="1"/>
          <p:nvPr/>
        </p:nvSpPr>
        <p:spPr>
          <a:xfrm>
            <a:off x="5524500" y="3771900"/>
            <a:ext cx="29845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" altLang="ko-KR" sz="1150">
                <a:solidFill>
                  <a:srgbClr val="142B3D"/>
                </a:solidFill>
              </a:rPr>
              <a:t>• Introduces clipping
• Activation range is data-dependent</a:t>
            </a:r>
            <a:endParaRPr lang="ko-KR" altLang="en-US" sz="1150">
              <a:solidFill>
                <a:srgbClr val="142B3D"/>
              </a:solidFill>
            </a:endParaRPr>
          </a:p>
        </p:txBody>
      </p:sp>
      <p:sp>
        <p:nvSpPr>
          <p:cNvPr id="28" name="Tradeoff Formula">
            <a:extLst>
              <a:ext uri="{FF2B5EF4-FFF2-40B4-BE49-F238E27FC236}">
                <a16:creationId xmlns:a16="http://schemas.microsoft.com/office/drawing/2014/main" id="{936712C8-B8B7-EA4F-8D70-A177AE1BA1E1}"/>
              </a:ext>
            </a:extLst>
          </p:cNvPr>
          <p:cNvSpPr txBox="1"/>
          <p:nvPr/>
        </p:nvSpPr>
        <p:spPr>
          <a:xfrm>
            <a:off x="2857500" y="4559300"/>
            <a:ext cx="533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" altLang="ko-KR" sz="1500" dirty="0">
                <a:solidFill>
                  <a:srgbClr val="142B3D"/>
                </a:solidFill>
                <a:latin typeface="Cambria Math"/>
                <a:ea typeface="Cambria Math"/>
              </a:rPr>
              <a:t>Clipping Error   ↔   Rounding Error</a:t>
            </a:r>
            <a:endParaRPr lang="ko-KR" altLang="en-US" sz="1500" dirty="0">
              <a:solidFill>
                <a:srgbClr val="142B3D"/>
              </a:solidFill>
              <a:latin typeface="Cambria Math"/>
            </a:endParaRPr>
          </a:p>
        </p:txBody>
      </p:sp>
      <p:sp>
        <p:nvSpPr>
          <p:cNvPr id="29" name="MSE Pair">
            <a:extLst>
              <a:ext uri="{FF2B5EF4-FFF2-40B4-BE49-F238E27FC236}">
                <a16:creationId xmlns:a16="http://schemas.microsoft.com/office/drawing/2014/main" id="{0498F7E6-5C7A-BA49-BD94-BE664AFAA556}"/>
              </a:ext>
            </a:extLst>
          </p:cNvPr>
          <p:cNvSpPr txBox="1"/>
          <p:nvPr/>
        </p:nvSpPr>
        <p:spPr>
          <a:xfrm>
            <a:off x="4876800" y="1765300"/>
            <a:ext cx="13208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rmAutofit/>
          </a:bodyPr>
          <a:lstStyle/>
          <a:p>
            <a:pPr algn="l"/>
            <a:r>
              <a:rPr lang="en" altLang="ko-KR" sz="1350">
                <a:solidFill>
                  <a:srgbClr val="142B3D"/>
                </a:solidFill>
                <a:latin typeface="Cambria Math"/>
                <a:ea typeface="Cambria Math"/>
              </a:rPr>
              <a:t>(qₘᵢₙ, qₘₐₓ) =</a:t>
            </a:r>
            <a:endParaRPr lang="ko-KR" altLang="en-US" sz="1350">
              <a:solidFill>
                <a:srgbClr val="142B3D"/>
              </a:solidFill>
              <a:latin typeface="Cambria Math"/>
            </a:endParaRPr>
          </a:p>
        </p:txBody>
      </p:sp>
      <p:sp>
        <p:nvSpPr>
          <p:cNvPr id="30" name="MSE ArgMin">
            <a:extLst>
              <a:ext uri="{FF2B5EF4-FFF2-40B4-BE49-F238E27FC236}">
                <a16:creationId xmlns:a16="http://schemas.microsoft.com/office/drawing/2014/main" id="{20ED2561-55DC-BE41-8E00-82C6F5137893}"/>
              </a:ext>
            </a:extLst>
          </p:cNvPr>
          <p:cNvSpPr txBox="1"/>
          <p:nvPr/>
        </p:nvSpPr>
        <p:spPr>
          <a:xfrm>
            <a:off x="6248400" y="1714500"/>
            <a:ext cx="774700" cy="2921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" altLang="ko-KR" sz="1450">
                <a:solidFill>
                  <a:srgbClr val="142B3D"/>
                </a:solidFill>
                <a:latin typeface="Cambria Math"/>
                <a:ea typeface="Cambria Math"/>
              </a:rPr>
              <a:t>arg min</a:t>
            </a:r>
            <a:endParaRPr lang="ko-KR" altLang="en-US" sz="1450">
              <a:solidFill>
                <a:srgbClr val="142B3D"/>
              </a:solidFill>
              <a:latin typeface="Cambria Math"/>
            </a:endParaRPr>
          </a:p>
        </p:txBody>
      </p:sp>
      <p:sp>
        <p:nvSpPr>
          <p:cNvPr id="31" name="MSE ArgMin Sub">
            <a:extLst>
              <a:ext uri="{FF2B5EF4-FFF2-40B4-BE49-F238E27FC236}">
                <a16:creationId xmlns:a16="http://schemas.microsoft.com/office/drawing/2014/main" id="{4B14E81F-9690-4244-B5DC-4B737984BC44}"/>
              </a:ext>
            </a:extLst>
          </p:cNvPr>
          <p:cNvSpPr txBox="1"/>
          <p:nvPr/>
        </p:nvSpPr>
        <p:spPr>
          <a:xfrm>
            <a:off x="6223000" y="1993900"/>
            <a:ext cx="825500" cy="1905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" altLang="ko-KR" sz="850">
                <a:solidFill>
                  <a:srgbClr val="142B3D"/>
                </a:solidFill>
                <a:latin typeface="Cambria Math"/>
                <a:ea typeface="Cambria Math"/>
              </a:rPr>
              <a:t>qₘᵢₙ, qₘₐₓ</a:t>
            </a:r>
            <a:endParaRPr lang="ko-KR" altLang="en-US" sz="850">
              <a:solidFill>
                <a:srgbClr val="142B3D"/>
              </a:solidFill>
              <a:latin typeface="Cambria Math"/>
            </a:endParaRPr>
          </a:p>
        </p:txBody>
      </p:sp>
      <p:sp>
        <p:nvSpPr>
          <p:cNvPr id="32" name="MSE Norm">
            <a:extLst>
              <a:ext uri="{FF2B5EF4-FFF2-40B4-BE49-F238E27FC236}">
                <a16:creationId xmlns:a16="http://schemas.microsoft.com/office/drawing/2014/main" id="{33D636F3-76F1-6143-AA89-07C97BFCA840}"/>
              </a:ext>
            </a:extLst>
          </p:cNvPr>
          <p:cNvSpPr txBox="1"/>
          <p:nvPr/>
        </p:nvSpPr>
        <p:spPr>
          <a:xfrm>
            <a:off x="7086600" y="1765300"/>
            <a:ext cx="13208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" altLang="ko-KR" sz="1500">
                <a:solidFill>
                  <a:srgbClr val="142B3D"/>
                </a:solidFill>
                <a:latin typeface="Cambria Math"/>
                <a:ea typeface="Cambria Math"/>
              </a:rPr>
              <a:t>‖x − x̂‖²₂</a:t>
            </a:r>
            <a:endParaRPr lang="ko-KR" altLang="en-US" sz="1500">
              <a:solidFill>
                <a:srgbClr val="142B3D"/>
              </a:solidFill>
              <a:latin typeface="Cambria Math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5fa42d7dc_0_515"/>
          <p:cNvSpPr txBox="1">
            <a:spLocks noGrp="1"/>
          </p:cNvSpPr>
          <p:nvPr>
            <p:ph type="title"/>
          </p:nvPr>
        </p:nvSpPr>
        <p:spPr>
          <a:xfrm>
            <a:off x="371475" y="301687"/>
            <a:ext cx="8390400" cy="9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None/>
            </a:pPr>
            <a:r>
              <a:rPr lang="ko"/>
              <a:t>Bias Correction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None/>
            </a:pPr>
            <a:endParaRPr/>
          </a:p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None/>
            </a:pPr>
            <a:endParaRPr/>
          </a:p>
        </p:txBody>
      </p:sp>
      <p:sp>
        <p:nvSpPr>
          <p:cNvPr id="196" name="Google Shape;196;g3f5fa42d7dc_0_515"/>
          <p:cNvSpPr txBox="1">
            <a:spLocks noGrp="1"/>
          </p:cNvSpPr>
          <p:nvPr>
            <p:ph type="body" idx="1"/>
          </p:nvPr>
        </p:nvSpPr>
        <p:spPr>
          <a:xfrm>
            <a:off x="371475" y="970023"/>
            <a:ext cx="8541300" cy="38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ko" sz="1800" b="1" dirty="0"/>
              <a:t>Problem: </a:t>
            </a:r>
            <a:r>
              <a:rPr lang="en-US" altLang="ko" sz="1800" dirty="0"/>
              <a:t>Quantization Error(</a:t>
            </a:r>
            <a:r>
              <a:rPr lang="en-US" altLang="ko-KR" sz="1800" dirty="0"/>
              <a:t>rounding error/clipping error)</a:t>
            </a:r>
            <a:r>
              <a:rPr lang="en-US" altLang="ko" sz="1800" dirty="0"/>
              <a:t> -&gt; Mean Shift</a:t>
            </a:r>
            <a:endParaRPr lang="en-US" sz="1800" b="1" dirty="0"/>
          </a:p>
          <a:p>
            <a:pPr marL="127000" indent="-127000">
              <a:spcBef>
                <a:spcPts val="0"/>
              </a:spcBef>
              <a:buSzPts val="1800"/>
            </a:pPr>
            <a:endParaRPr lang="en-US" sz="1800" b="1" dirty="0"/>
          </a:p>
          <a:p>
            <a:pPr marL="127000" indent="-127000">
              <a:spcBef>
                <a:spcPts val="0"/>
              </a:spcBef>
              <a:buSzPts val="1800"/>
            </a:pPr>
            <a:endParaRPr lang="en-US" sz="1800" b="1" dirty="0"/>
          </a:p>
          <a:p>
            <a:pPr marL="127000" indent="-127000">
              <a:spcBef>
                <a:spcPts val="0"/>
              </a:spcBef>
              <a:buSzPts val="1800"/>
            </a:pPr>
            <a:endParaRPr lang="en-US" sz="1800" b="1" dirty="0"/>
          </a:p>
          <a:p>
            <a:pPr marL="127000" indent="-127000">
              <a:spcBef>
                <a:spcPts val="0"/>
              </a:spcBef>
              <a:buSzPts val="1800"/>
            </a:pPr>
            <a:endParaRPr lang="en-US" sz="1800" b="1" dirty="0"/>
          </a:p>
          <a:p>
            <a:pPr marL="127000" indent="-127000">
              <a:spcBef>
                <a:spcPts val="0"/>
              </a:spcBef>
              <a:buSzPts val="1800"/>
            </a:pPr>
            <a:endParaRPr lang="en-US" sz="1800" b="1" dirty="0"/>
          </a:p>
          <a:p>
            <a:pPr marL="127000" indent="-127000">
              <a:spcBef>
                <a:spcPts val="0"/>
              </a:spcBef>
              <a:buSzPts val="1800"/>
            </a:pPr>
            <a:r>
              <a:rPr lang="en-US" sz="1800" b="1" dirty="0"/>
              <a:t>Method</a:t>
            </a:r>
            <a:endParaRPr dirty="0"/>
          </a:p>
          <a:p>
            <a:pPr marL="254000" lvl="1" indent="-114300">
              <a:spcBef>
                <a:spcPts val="400"/>
              </a:spcBef>
            </a:pPr>
            <a:r>
              <a:rPr lang="ko-KR" altLang="ko-KR" dirty="0" err="1"/>
              <a:t>Analytic</a:t>
            </a:r>
            <a:r>
              <a:rPr lang="ko-KR" altLang="ko-KR" dirty="0"/>
              <a:t> (BN </a:t>
            </a:r>
            <a:r>
              <a:rPr lang="ko-KR" altLang="ko-KR" dirty="0" err="1"/>
              <a:t>statistics</a:t>
            </a:r>
            <a:r>
              <a:rPr lang="ko-KR" altLang="ko-KR" dirty="0"/>
              <a:t>) </a:t>
            </a:r>
            <a:r>
              <a:rPr lang="ko-KR" altLang="ko-KR" dirty="0" err="1"/>
              <a:t>vs</a:t>
            </a:r>
            <a:r>
              <a:rPr lang="ko-KR" altLang="ko-KR" dirty="0"/>
              <a:t>. </a:t>
            </a:r>
            <a:r>
              <a:rPr lang="ko-KR" altLang="ko-KR" dirty="0" err="1"/>
              <a:t>empirical</a:t>
            </a:r>
            <a:r>
              <a:rPr lang="ko-KR" altLang="ko-KR" dirty="0"/>
              <a:t> (</a:t>
            </a:r>
            <a:r>
              <a:rPr lang="ko-KR" altLang="ko-KR" b="1" dirty="0" err="1"/>
              <a:t>calibration</a:t>
            </a:r>
            <a:r>
              <a:rPr lang="ko-KR" altLang="ko-KR" b="1" dirty="0"/>
              <a:t> </a:t>
            </a:r>
            <a:r>
              <a:rPr lang="ko-KR" altLang="ko-KR" b="1" dirty="0" err="1"/>
              <a:t>data</a:t>
            </a:r>
            <a:r>
              <a:rPr lang="ko-KR" altLang="ko-KR" dirty="0"/>
              <a:t>)</a:t>
            </a:r>
            <a:endParaRPr lang="en-US" altLang="ko-KR" dirty="0"/>
          </a:p>
          <a:p>
            <a:pPr marL="254000" lvl="1" indent="-114300">
              <a:spcBef>
                <a:spcPts val="400"/>
              </a:spcBef>
            </a:pPr>
            <a:r>
              <a:rPr lang="ko-KR" altLang="ko-KR" dirty="0" err="1"/>
              <a:t>Essentially</a:t>
            </a:r>
            <a:r>
              <a:rPr lang="ko-KR" altLang="ko-KR" dirty="0"/>
              <a:t> </a:t>
            </a:r>
            <a:r>
              <a:rPr lang="ko-KR" altLang="ko-KR" dirty="0" err="1"/>
              <a:t>zero</a:t>
            </a:r>
            <a:r>
              <a:rPr lang="ko-KR" altLang="ko-KR" dirty="0"/>
              <a:t> </a:t>
            </a:r>
            <a:r>
              <a:rPr lang="ko-KR" altLang="ko-KR" dirty="0" err="1"/>
              <a:t>cost</a:t>
            </a:r>
            <a:r>
              <a:rPr lang="ko-KR" altLang="ko-KR" dirty="0"/>
              <a:t>, </a:t>
            </a:r>
            <a:r>
              <a:rPr lang="ko-KR" altLang="ko-KR" dirty="0" err="1"/>
              <a:t>non-trivial</a:t>
            </a:r>
            <a:r>
              <a:rPr lang="ko-KR" altLang="ko-KR" dirty="0"/>
              <a:t> </a:t>
            </a:r>
            <a:r>
              <a:rPr lang="ko-KR" altLang="ko-KR" dirty="0" err="1"/>
              <a:t>gain</a:t>
            </a:r>
            <a:r>
              <a:rPr lang="ko-KR" altLang="ko-KR" dirty="0"/>
              <a:t> —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cheapest</a:t>
            </a:r>
            <a:r>
              <a:rPr lang="ko-KR" altLang="ko-KR" dirty="0"/>
              <a:t> </a:t>
            </a:r>
            <a:r>
              <a:rPr lang="ko-KR" altLang="ko-KR" dirty="0" err="1"/>
              <a:t>compensation</a:t>
            </a:r>
            <a:r>
              <a:rPr lang="ko-KR" altLang="ko-KR" dirty="0"/>
              <a:t> </a:t>
            </a:r>
            <a:r>
              <a:rPr lang="ko-KR" altLang="ko-KR" dirty="0" err="1"/>
              <a:t>available</a:t>
            </a: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B2742"/>
              </a:buClr>
              <a:buSzPts val="1800"/>
              <a:buNone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srgbClr val="0B2742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7" name="Google Shape;197;g3f5fa42d7dc_0_515"/>
          <p:cNvSpPr txBox="1">
            <a:spLocks noGrp="1"/>
          </p:cNvSpPr>
          <p:nvPr>
            <p:ph type="subTitle" idx="2"/>
          </p:nvPr>
        </p:nvSpPr>
        <p:spPr>
          <a:xfrm>
            <a:off x="370642" y="640457"/>
            <a:ext cx="8391300" cy="2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lang="ko"/>
              <a:t>Post Training Quantization(PTQ)</a:t>
            </a:r>
            <a:endParaRPr/>
          </a:p>
        </p:txBody>
      </p:sp>
      <p:pic>
        <p:nvPicPr>
          <p:cNvPr id="199" name="Google Shape;199;g3f5fa42d7dc_0_515" title="스크린샷 2026-07-31 오전 11.42.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9896" y="1515793"/>
            <a:ext cx="2004207" cy="46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g3f5fa42d7dc_0_515" title="스크린샷 2026-07-31 오전 11.43.0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9036" y="1976843"/>
            <a:ext cx="3407874" cy="46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5fa42d7dc_0_523"/>
          <p:cNvSpPr txBox="1">
            <a:spLocks noGrp="1"/>
          </p:cNvSpPr>
          <p:nvPr>
            <p:ph type="title"/>
          </p:nvPr>
        </p:nvSpPr>
        <p:spPr>
          <a:xfrm>
            <a:off x="371475" y="301687"/>
            <a:ext cx="8390400" cy="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None/>
            </a:pPr>
            <a:r>
              <a:rPr lang="ko" dirty="0"/>
              <a:t>AdaRound</a:t>
            </a:r>
            <a:endParaRPr dirty="0"/>
          </a:p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None/>
            </a:pPr>
            <a:endParaRPr dirty="0"/>
          </a:p>
        </p:txBody>
      </p:sp>
      <p:sp>
        <p:nvSpPr>
          <p:cNvPr id="207" name="Google Shape;207;g3f5fa42d7dc_0_523"/>
          <p:cNvSpPr txBox="1">
            <a:spLocks noGrp="1"/>
          </p:cNvSpPr>
          <p:nvPr>
            <p:ph type="body" idx="1"/>
          </p:nvPr>
        </p:nvSpPr>
        <p:spPr>
          <a:xfrm>
            <a:off x="371475" y="970030"/>
            <a:ext cx="8692800" cy="39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 indent="-1270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ko" sz="1800" b="1" dirty="0"/>
              <a:t>Problem: round-to-nearest is not optimal</a:t>
            </a:r>
            <a:endParaRPr lang="en-US" altLang="ko" sz="1800" b="1" dirty="0"/>
          </a:p>
          <a:p>
            <a:pPr marL="127000" lvl="0" indent="-1270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en-US" altLang="ko" sz="1800" b="1" dirty="0"/>
              <a:t>Method:  </a:t>
            </a:r>
            <a:r>
              <a:rPr lang="ko" altLang="ko-KR" dirty="0"/>
              <a:t>Learns whether to round each weight up or down using calibration set</a:t>
            </a:r>
            <a:endParaRPr lang="en-US" altLang="ko-KR" dirty="0"/>
          </a:p>
          <a:p>
            <a:pPr marL="254000" lvl="1" indent="-114300">
              <a:spcBef>
                <a:spcPts val="400"/>
              </a:spcBef>
            </a:pPr>
            <a:r>
              <a:rPr lang="ko-KR" altLang="ko-KR" dirty="0" err="1"/>
              <a:t>Layer-wise</a:t>
            </a:r>
            <a:r>
              <a:rPr lang="ko-KR" altLang="ko-KR" dirty="0"/>
              <a:t> </a:t>
            </a:r>
            <a:r>
              <a:rPr lang="ko-KR" altLang="ko-KR" dirty="0" err="1"/>
              <a:t>optimization</a:t>
            </a:r>
            <a:endParaRPr lang="en-US" altLang="ko-KR" dirty="0"/>
          </a:p>
          <a:p>
            <a:pPr marL="254000" lvl="1" indent="-114300">
              <a:spcBef>
                <a:spcPts val="400"/>
              </a:spcBef>
            </a:pPr>
            <a:r>
              <a:rPr lang="ko-KR" altLang="ko-KR" dirty="0" err="1"/>
              <a:t>Optimize</a:t>
            </a:r>
            <a:r>
              <a:rPr lang="ko-KR" altLang="ko-KR" dirty="0"/>
              <a:t> </a:t>
            </a:r>
            <a:r>
              <a:rPr lang="ko-KR" altLang="ko-KR" dirty="0" err="1"/>
              <a:t>a</a:t>
            </a:r>
            <a:r>
              <a:rPr lang="ko-KR" altLang="ko-KR" dirty="0"/>
              <a:t> </a:t>
            </a:r>
            <a:r>
              <a:rPr lang="ko-KR" altLang="ko-KR" dirty="0" err="1"/>
              <a:t>reconstruction</a:t>
            </a:r>
            <a:r>
              <a:rPr lang="ko-KR" altLang="ko-KR" dirty="0"/>
              <a:t> </a:t>
            </a:r>
            <a:r>
              <a:rPr lang="ko-KR" altLang="ko-KR" dirty="0" err="1"/>
              <a:t>loss</a:t>
            </a:r>
            <a:r>
              <a:rPr lang="en-US" altLang="ko-KR" dirty="0"/>
              <a:t>, no backpropagation</a:t>
            </a:r>
          </a:p>
          <a:p>
            <a:pPr marL="254000" lvl="1" indent="-114300">
              <a:spcBef>
                <a:spcPts val="400"/>
              </a:spcBef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/>
          </a:p>
        </p:txBody>
      </p:sp>
      <p:sp>
        <p:nvSpPr>
          <p:cNvPr id="208" name="Google Shape;208;g3f5fa42d7dc_0_523"/>
          <p:cNvSpPr txBox="1">
            <a:spLocks noGrp="1"/>
          </p:cNvSpPr>
          <p:nvPr>
            <p:ph type="subTitle" idx="2"/>
          </p:nvPr>
        </p:nvSpPr>
        <p:spPr>
          <a:xfrm>
            <a:off x="370642" y="640457"/>
            <a:ext cx="8391300" cy="2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lang="ko"/>
              <a:t>Post Training Quantization(PTQ)</a:t>
            </a:r>
            <a:endParaRPr/>
          </a:p>
        </p:txBody>
      </p:sp>
      <p:sp>
        <p:nvSpPr>
          <p:cNvPr id="209" name="Google Shape;209;g3f5fa42d7dc_0_523"/>
          <p:cNvSpPr txBox="1"/>
          <p:nvPr/>
        </p:nvSpPr>
        <p:spPr>
          <a:xfrm>
            <a:off x="11151" y="4924600"/>
            <a:ext cx="4580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10" name="Google Shape;210;g3f5fa42d7dc_0_523" title="스크린샷 2026-07-31 오전 11.55.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276" y="2297965"/>
            <a:ext cx="4280149" cy="2435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747EF08-34C3-9938-1C5B-DA3E1D7681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6292" y="2437658"/>
            <a:ext cx="4497983" cy="169923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f60866fa4d_0_55"/>
          <p:cNvSpPr txBox="1">
            <a:spLocks noGrp="1"/>
          </p:cNvSpPr>
          <p:nvPr>
            <p:ph type="title"/>
          </p:nvPr>
        </p:nvSpPr>
        <p:spPr>
          <a:xfrm>
            <a:off x="371475" y="301687"/>
            <a:ext cx="8390400" cy="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None/>
            </a:pPr>
            <a:r>
              <a:rPr lang="en-US" altLang="ko" dirty="0"/>
              <a:t>Comparison</a:t>
            </a:r>
            <a:endParaRPr lang="en-US" dirty="0"/>
          </a:p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None/>
            </a:pPr>
            <a:endParaRPr dirty="0"/>
          </a:p>
        </p:txBody>
      </p:sp>
      <p:sp>
        <p:nvSpPr>
          <p:cNvPr id="299" name="Google Shape;299;g3f60866fa4d_0_55"/>
          <p:cNvSpPr txBox="1">
            <a:spLocks noGrp="1"/>
          </p:cNvSpPr>
          <p:nvPr>
            <p:ph type="subTitle" idx="2"/>
          </p:nvPr>
        </p:nvSpPr>
        <p:spPr>
          <a:xfrm>
            <a:off x="370642" y="640457"/>
            <a:ext cx="8391300" cy="2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lang="en-US" dirty="0"/>
              <a:t>PTQ - White Paper </a:t>
            </a:r>
            <a:r>
              <a:rPr lang="en-US" dirty="0" err="1"/>
              <a:t>v.s</a:t>
            </a:r>
            <a:r>
              <a:rPr lang="en-US" dirty="0"/>
              <a:t>. LLM</a:t>
            </a:r>
            <a:endParaRPr dirty="0"/>
          </a:p>
        </p:txBody>
      </p:sp>
      <p:sp>
        <p:nvSpPr>
          <p:cNvPr id="300" name="Google Shape;300;g3f60866fa4d_0_55"/>
          <p:cNvSpPr txBox="1"/>
          <p:nvPr/>
        </p:nvSpPr>
        <p:spPr>
          <a:xfrm>
            <a:off x="11151" y="4924600"/>
            <a:ext cx="4580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01" name="Google Shape;301;g3f60866fa4d_0_55"/>
          <p:cNvGraphicFramePr/>
          <p:nvPr>
            <p:extLst>
              <p:ext uri="{D42A27DB-BD31-4B8C-83A1-F6EECF244321}">
                <p14:modId xmlns:p14="http://schemas.microsoft.com/office/powerpoint/2010/main" val="878144892"/>
              </p:ext>
            </p:extLst>
          </p:nvPr>
        </p:nvGraphicFramePr>
        <p:xfrm>
          <a:off x="428949" y="1056138"/>
          <a:ext cx="8274686" cy="3734710"/>
        </p:xfrm>
        <a:graphic>
          <a:graphicData uri="http://schemas.openxmlformats.org/drawingml/2006/table">
            <a:tbl>
              <a:tblPr>
                <a:noFill/>
                <a:tableStyleId>{F0EDFCD5-A1EA-4B4F-A2FB-9BF5B3A5057D}</a:tableStyleId>
              </a:tblPr>
              <a:tblGrid>
                <a:gridCol w="4137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7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668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b="1" dirty="0"/>
                        <a:t>White Paper</a:t>
                      </a:r>
                      <a:endParaRPr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b="1"/>
                        <a:t>LLM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98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b="1" dirty="0"/>
                        <a:t>Cross-Layer Equalization(CLE)</a:t>
                      </a:r>
                      <a:endParaRPr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 dirty="0"/>
                        <a:t>SmoothQuant, AWQ, SpinQuant</a:t>
                      </a:r>
                      <a:r>
                        <a:rPr lang="en-US" altLang="ko" dirty="0"/>
                        <a:t>, </a:t>
                      </a:r>
                      <a:r>
                        <a:rPr lang="ko" altLang="ko-KR" dirty="0"/>
                        <a:t>QuaRot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98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b="1" dirty="0"/>
                        <a:t>Range Setting</a:t>
                      </a:r>
                      <a:endParaRPr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altLang="ko" dirty="0"/>
                        <a:t>- 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66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altLang="ko" b="1" dirty="0"/>
                        <a:t>Bias Correction</a:t>
                      </a:r>
                      <a:endParaRPr lang="en" altLang="ko-KR"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" dirty="0"/>
                        <a:t>-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668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" b="1" dirty="0" err="1"/>
                        <a:t>Adaround</a:t>
                      </a:r>
                      <a:endParaRPr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dirty="0"/>
                        <a:t>GPTQ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668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/>
                        <a:t>-</a:t>
                      </a:r>
                      <a:endParaRPr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/>
                        <a:t>KV Cache </a:t>
                      </a:r>
                      <a:r>
                        <a:rPr lang="en-US" dirty="0"/>
                        <a:t>- KIVI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32120856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f63937a9f2_0_16"/>
          <p:cNvSpPr txBox="1">
            <a:spLocks noGrp="1"/>
          </p:cNvSpPr>
          <p:nvPr>
            <p:ph type="ftr" idx="11"/>
          </p:nvPr>
        </p:nvSpPr>
        <p:spPr>
          <a:xfrm>
            <a:off x="371475" y="4899671"/>
            <a:ext cx="4457700" cy="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endParaRPr/>
          </a:p>
        </p:txBody>
      </p:sp>
      <p:sp>
        <p:nvSpPr>
          <p:cNvPr id="462" name="Google Shape;462;g3f63937a9f2_0_16"/>
          <p:cNvSpPr txBox="1">
            <a:spLocks noGrp="1"/>
          </p:cNvSpPr>
          <p:nvPr>
            <p:ph type="body" idx="1"/>
          </p:nvPr>
        </p:nvSpPr>
        <p:spPr>
          <a:xfrm>
            <a:off x="378591" y="1464869"/>
            <a:ext cx="8344800" cy="6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None/>
            </a:pPr>
            <a:r>
              <a:rPr lang="ko" dirty="0"/>
              <a:t>KV Cache Quantization</a:t>
            </a:r>
            <a:endParaRPr dirty="0"/>
          </a:p>
        </p:txBody>
      </p:sp>
      <p:sp>
        <p:nvSpPr>
          <p:cNvPr id="463" name="Google Shape;463;g3f63937a9f2_0_16"/>
          <p:cNvSpPr txBox="1">
            <a:spLocks noGrp="1"/>
          </p:cNvSpPr>
          <p:nvPr>
            <p:ph type="body" idx="2"/>
          </p:nvPr>
        </p:nvSpPr>
        <p:spPr>
          <a:xfrm>
            <a:off x="378591" y="806396"/>
            <a:ext cx="83448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C5BFF"/>
              </a:buClr>
              <a:buSzPts val="2400"/>
              <a:buNone/>
            </a:pPr>
            <a:endParaRPr/>
          </a:p>
        </p:txBody>
      </p:sp>
      <p:sp>
        <p:nvSpPr>
          <p:cNvPr id="464" name="Google Shape;464;g3f63937a9f2_0_16"/>
          <p:cNvSpPr txBox="1">
            <a:spLocks noGrp="1"/>
          </p:cNvSpPr>
          <p:nvPr>
            <p:ph type="body" idx="3"/>
          </p:nvPr>
        </p:nvSpPr>
        <p:spPr>
          <a:xfrm>
            <a:off x="378591" y="3442944"/>
            <a:ext cx="8344800" cy="8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>
          <a:extLst>
            <a:ext uri="{FF2B5EF4-FFF2-40B4-BE49-F238E27FC236}">
              <a16:creationId xmlns:a16="http://schemas.microsoft.com/office/drawing/2014/main" id="{997C096A-8786-D8CA-F461-8962555DA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021CFB2F-4E28-3002-7603-CFBD9FE5C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372" y="1070818"/>
            <a:ext cx="6492868" cy="3513430"/>
          </a:xfrm>
          <a:prstGeom prst="rect">
            <a:avLst/>
          </a:prstGeom>
        </p:spPr>
      </p:pic>
      <p:sp>
        <p:nvSpPr>
          <p:cNvPr id="470" name="Google Shape;470;g3f63937a9f2_0_23">
            <a:extLst>
              <a:ext uri="{FF2B5EF4-FFF2-40B4-BE49-F238E27FC236}">
                <a16:creationId xmlns:a16="http://schemas.microsoft.com/office/drawing/2014/main" id="{1E78DDC2-ADA8-8B70-2B2D-C7B0D27EC4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1475" y="301687"/>
            <a:ext cx="83904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/>
            <a:r>
              <a:rPr lang="en" altLang="ko-KR" dirty="0"/>
              <a:t>KIVI</a:t>
            </a:r>
          </a:p>
        </p:txBody>
      </p:sp>
      <p:sp>
        <p:nvSpPr>
          <p:cNvPr id="471" name="Google Shape;471;g3f63937a9f2_0_23">
            <a:extLst>
              <a:ext uri="{FF2B5EF4-FFF2-40B4-BE49-F238E27FC236}">
                <a16:creationId xmlns:a16="http://schemas.microsoft.com/office/drawing/2014/main" id="{73ED4E3C-F4E7-2EB6-B61F-5D09F92C00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1475" y="970023"/>
            <a:ext cx="3194685" cy="3871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 indent="-107950">
              <a:spcBef>
                <a:spcPts val="0"/>
              </a:spcBef>
            </a:pPr>
            <a:r>
              <a:rPr lang="en-US" dirty="0"/>
              <a:t>Previous works: </a:t>
            </a:r>
          </a:p>
          <a:p>
            <a:pPr marL="584200" lvl="1" indent="-107950">
              <a:spcBef>
                <a:spcPts val="0"/>
              </a:spcBef>
            </a:pPr>
            <a:r>
              <a:rPr lang="en-US" dirty="0"/>
              <a:t>lack of exploring </a:t>
            </a:r>
            <a:r>
              <a:rPr lang="en-US" b="1" dirty="0"/>
              <a:t>element distribution of KV cache</a:t>
            </a:r>
            <a:r>
              <a:rPr lang="en-US" dirty="0"/>
              <a:t> </a:t>
            </a:r>
          </a:p>
          <a:p>
            <a:pPr marL="127000" indent="-107950">
              <a:spcBef>
                <a:spcPts val="0"/>
              </a:spcBef>
            </a:pPr>
            <a:r>
              <a:rPr lang="en-US" dirty="0"/>
              <a:t>Method: </a:t>
            </a:r>
          </a:p>
          <a:p>
            <a:pPr marL="584200" lvl="1" indent="-107950">
              <a:spcBef>
                <a:spcPts val="0"/>
              </a:spcBef>
            </a:pPr>
            <a:r>
              <a:rPr lang="en-US" dirty="0">
                <a:solidFill>
                  <a:schemeClr val="tx2"/>
                </a:solidFill>
              </a:rPr>
              <a:t>Key:  </a:t>
            </a:r>
            <a:r>
              <a:rPr lang="en-US" b="1" dirty="0">
                <a:solidFill>
                  <a:schemeClr val="tx2"/>
                </a:solidFill>
              </a:rPr>
              <a:t>per-channel</a:t>
            </a:r>
            <a:r>
              <a:rPr lang="en-US" dirty="0"/>
              <a:t>, few fixed channels whose magnitudes are very large</a:t>
            </a:r>
          </a:p>
          <a:p>
            <a:pPr marL="584200" lvl="1" indent="-107950">
              <a:spcBef>
                <a:spcPts val="0"/>
              </a:spcBef>
            </a:pPr>
            <a:r>
              <a:rPr lang="en-US" dirty="0">
                <a:solidFill>
                  <a:schemeClr val="tx2"/>
                </a:solidFill>
              </a:rPr>
              <a:t>Value: </a:t>
            </a:r>
            <a:r>
              <a:rPr lang="en-US" b="1" dirty="0">
                <a:solidFill>
                  <a:schemeClr val="tx2"/>
                </a:solidFill>
              </a:rPr>
              <a:t>per-token</a:t>
            </a:r>
            <a:r>
              <a:rPr lang="en-US" dirty="0"/>
              <a:t>. no obvious outlier pattern -&gt; quantized per token</a:t>
            </a:r>
          </a:p>
          <a:p>
            <a:pPr marL="127000" indent="-107950">
              <a:spcBef>
                <a:spcPts val="0"/>
              </a:spcBef>
            </a:pPr>
            <a:r>
              <a:rPr lang="en-US" dirty="0"/>
              <a:t>Results: Peak memory, batch size, throughput</a:t>
            </a:r>
          </a:p>
          <a:p>
            <a:pPr marL="127000" lvl="0" indent="-107950">
              <a:spcBef>
                <a:spcPts val="0"/>
              </a:spcBef>
            </a:pPr>
            <a:r>
              <a:rPr lang="en-US" dirty="0"/>
              <a:t>Limitation: group scale overhead</a:t>
            </a:r>
            <a:endParaRPr dirty="0"/>
          </a:p>
        </p:txBody>
      </p:sp>
      <p:sp>
        <p:nvSpPr>
          <p:cNvPr id="6" name="Google Shape;263;g3f63937a9f2_0_31">
            <a:extLst>
              <a:ext uri="{FF2B5EF4-FFF2-40B4-BE49-F238E27FC236}">
                <a16:creationId xmlns:a16="http://schemas.microsoft.com/office/drawing/2014/main" id="{BB5F644C-B896-2A05-508C-B2E2912D719D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70642" y="640532"/>
            <a:ext cx="8391300" cy="20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indent="0">
              <a:spcBef>
                <a:spcPts val="0"/>
              </a:spcBef>
            </a:pPr>
            <a:r>
              <a:rPr lang="en-US" altLang="ko" dirty="0"/>
              <a:t>KIVI: A Tuning-Free Asymmetric 2bit Quantization for KV Cache</a:t>
            </a:r>
          </a:p>
        </p:txBody>
      </p:sp>
    </p:spTree>
    <p:extLst>
      <p:ext uri="{BB962C8B-B14F-4D97-AF65-F5344CB8AC3E}">
        <p14:creationId xmlns:p14="http://schemas.microsoft.com/office/powerpoint/2010/main" val="19547568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>
          <a:extLst>
            <a:ext uri="{FF2B5EF4-FFF2-40B4-BE49-F238E27FC236}">
              <a16:creationId xmlns:a16="http://schemas.microsoft.com/office/drawing/2014/main" id="{3856689E-F048-6CC4-58CF-D0F499E7A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f63937a9f2_0_23">
            <a:extLst>
              <a:ext uri="{FF2B5EF4-FFF2-40B4-BE49-F238E27FC236}">
                <a16:creationId xmlns:a16="http://schemas.microsoft.com/office/drawing/2014/main" id="{9BC918BD-CCC6-ADA7-A132-FF1B29FBBC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1475" y="301687"/>
            <a:ext cx="83904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" altLang="ko" dirty="0" err="1"/>
              <a:t>CalibQuant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1" name="Google Shape;471;g3f63937a9f2_0_23">
                <a:extLst>
                  <a:ext uri="{FF2B5EF4-FFF2-40B4-BE49-F238E27FC236}">
                    <a16:creationId xmlns:a16="http://schemas.microsoft.com/office/drawing/2014/main" id="{C8E0A742-B381-534F-092A-5E4020A68FEE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71475" y="970022"/>
                <a:ext cx="8580000" cy="40591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127000" lvl="0" indent="-107950">
                  <a:spcBef>
                    <a:spcPts val="0"/>
                  </a:spcBef>
                </a:pPr>
                <a:r>
                  <a:rPr lang="en-US" dirty="0"/>
                  <a:t>Previous Works: </a:t>
                </a:r>
                <a:r>
                  <a:rPr lang="ko-KR" altLang="ko-KR" dirty="0" err="1"/>
                  <a:t>general</a:t>
                </a:r>
                <a:r>
                  <a:rPr lang="ko-KR" altLang="ko-KR" dirty="0"/>
                  <a:t> LLM </a:t>
                </a:r>
                <a:endParaRPr lang="en-US" altLang="ko-KR" dirty="0"/>
              </a:p>
              <a:p>
                <a:pPr marL="933450" lvl="2" indent="0">
                  <a:spcBef>
                    <a:spcPts val="0"/>
                  </a:spcBef>
                  <a:buNone/>
                </a:pPr>
                <a:r>
                  <a:rPr lang="en-US" altLang="ko-KR" dirty="0"/>
                  <a:t>-&gt; </a:t>
                </a:r>
                <a:r>
                  <a:rPr lang="ko-KR" altLang="ko-KR" dirty="0"/>
                  <a:t>MLLM </a:t>
                </a:r>
                <a:r>
                  <a:rPr lang="ko-KR" altLang="ko-KR" dirty="0" err="1"/>
                  <a:t>visual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token</a:t>
                </a:r>
                <a:endParaRPr lang="en-US" altLang="ko-KR" dirty="0"/>
              </a:p>
              <a:p>
                <a:pPr marL="127000" lvl="0" indent="-107950">
                  <a:spcBef>
                    <a:spcPts val="0"/>
                  </a:spcBef>
                </a:pPr>
                <a:endParaRPr lang="en-US" dirty="0"/>
              </a:p>
              <a:p>
                <a:pPr marL="127000" lvl="0" indent="-107950">
                  <a:spcBef>
                    <a:spcPts val="0"/>
                  </a:spcBef>
                </a:pPr>
                <a:r>
                  <a:rPr lang="en-US" dirty="0"/>
                  <a:t>Method:</a:t>
                </a:r>
              </a:p>
              <a:p>
                <a:pPr marL="584200" lvl="1" indent="-107950">
                  <a:spcBef>
                    <a:spcPts val="0"/>
                  </a:spcBef>
                </a:pPr>
                <a:r>
                  <a:rPr lang="ko-KR" altLang="ko-KR" b="1" dirty="0" err="1"/>
                  <a:t>visual</a:t>
                </a:r>
                <a:r>
                  <a:rPr lang="ko-KR" altLang="ko-KR" dirty="0"/>
                  <a:t> KV </a:t>
                </a:r>
                <a:r>
                  <a:rPr lang="ko-KR" altLang="ko-KR" dirty="0" err="1"/>
                  <a:t>cache</a:t>
                </a:r>
                <a:r>
                  <a:rPr lang="en-US" altLang="ko-KR" dirty="0"/>
                  <a:t> </a:t>
                </a:r>
                <a:r>
                  <a:rPr lang="en" altLang="ko-KR" dirty="0"/>
                  <a:t>low-bit quantization </a:t>
                </a:r>
                <a:r>
                  <a:rPr lang="en-US" altLang="ko-KR" dirty="0"/>
                  <a:t>(1, 2 bit)</a:t>
                </a:r>
              </a:p>
              <a:p>
                <a:pPr marL="584200" lvl="1" indent="-107950">
                  <a:spcBef>
                    <a:spcPts val="0"/>
                  </a:spcBef>
                </a:pPr>
                <a:r>
                  <a:rPr lang="en-US" altLang="ko-KR" b="1" dirty="0"/>
                  <a:t>Channel-wise</a:t>
                </a:r>
                <a:r>
                  <a:rPr lang="en-US" altLang="ko-KR" dirty="0"/>
                  <a:t>: </a:t>
                </a:r>
                <a:r>
                  <a:rPr lang="ko-KR" altLang="ko-KR" dirty="0" err="1"/>
                  <a:t>Key</a:t>
                </a:r>
                <a:r>
                  <a:rPr lang="en-US" altLang="ko-KR" dirty="0"/>
                  <a:t> - </a:t>
                </a:r>
                <a:r>
                  <a:rPr lang="ko-KR" altLang="ko-KR" dirty="0" err="1"/>
                  <a:t>per-channel</a:t>
                </a:r>
                <a:r>
                  <a:rPr lang="en-US" altLang="ko-KR" dirty="0"/>
                  <a:t>, </a:t>
                </a:r>
                <a:r>
                  <a:rPr lang="ko-KR" altLang="ko-KR" dirty="0" err="1"/>
                  <a:t>Value</a:t>
                </a:r>
                <a:r>
                  <a:rPr lang="en-US" altLang="ko-KR" dirty="0"/>
                  <a:t> -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per-channel</a:t>
                </a:r>
                <a:r>
                  <a:rPr lang="ko-KR" altLang="ko-KR" dirty="0"/>
                  <a:t> </a:t>
                </a:r>
                <a:endParaRPr lang="en-US" altLang="ko-KR" dirty="0"/>
              </a:p>
              <a:p>
                <a:pPr marL="584200" lvl="1" indent="-107950">
                  <a:spcBef>
                    <a:spcPts val="0"/>
                  </a:spcBef>
                </a:pPr>
                <a:r>
                  <a:rPr lang="ko-KR" altLang="ko-KR" dirty="0"/>
                  <a:t>Post-</a:t>
                </a:r>
                <a:r>
                  <a:rPr lang="ko-KR" altLang="ko-KR" dirty="0" err="1"/>
                  <a:t>scaling</a:t>
                </a:r>
                <a:r>
                  <a:rPr lang="en-US" altLang="ko-KR" dirty="0"/>
                  <a:t>: </a:t>
                </a:r>
                <a:r>
                  <a:rPr lang="ko-KR" altLang="ko-KR" dirty="0" err="1"/>
                  <a:t>decode</a:t>
                </a:r>
                <a:r>
                  <a:rPr lang="ko-KR" altLang="ko-KR" dirty="0"/>
                  <a:t> 시 </a:t>
                </a:r>
                <a:r>
                  <a:rPr lang="ko-KR" altLang="ko-KR" dirty="0" err="1"/>
                  <a:t>q는</a:t>
                </a:r>
                <a:r>
                  <a:rPr lang="ko-KR" altLang="ko-KR" dirty="0"/>
                  <a:t> 1토큰 → </a:t>
                </a:r>
                <a:r>
                  <a:rPr lang="ko-KR" altLang="ko-KR" dirty="0" err="1"/>
                  <a:t>dequant를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query</a:t>
                </a:r>
                <a:r>
                  <a:rPr lang="ko-KR" altLang="ko-KR" dirty="0"/>
                  <a:t> 쪽으로</a:t>
                </a:r>
                <a:endParaRPr lang="en-US" altLang="ko-KR" dirty="0"/>
              </a:p>
              <a:p>
                <a:pPr marL="584200" lvl="1" indent="-107950">
                  <a:spcBef>
                    <a:spcPts val="0"/>
                  </a:spcBef>
                </a:pPr>
                <a:r>
                  <a:rPr lang="en-US" dirty="0"/>
                  <a:t>Calibration: </a:t>
                </a:r>
                <a:r>
                  <a:rPr lang="ko-KR" altLang="ko-KR" dirty="0"/>
                  <a:t>1-bit면 값이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sepChr m:val=",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</m:oMath>
                </a14:m>
                <a:r>
                  <a:rPr lang="ko-KR" altLang="en-US" dirty="0" err="1"/>
                  <a:t>으로</a:t>
                </a:r>
                <a:r>
                  <a:rPr lang="ko-KR" altLang="en-US" dirty="0"/>
                  <a:t> 인한 </a:t>
                </a:r>
                <a:r>
                  <a:rPr lang="ko-KR" altLang="ko-KR" dirty="0" err="1"/>
                  <a:t>pre-softmax</a:t>
                </a:r>
                <a:r>
                  <a:rPr lang="ko-KR" altLang="ko-KR" dirty="0"/>
                  <a:t> 분포 왜곡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-&gt; a</a:t>
                </a:r>
                <a:r>
                  <a:rPr lang="ko-KR" altLang="ko-KR" dirty="0" err="1"/>
                  <a:t>ffine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map</a:t>
                </a:r>
                <a:r>
                  <a:rPr lang="ko-KR" altLang="ko-KR" dirty="0"/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d>
                    <m:r>
                      <a:rPr lang="ko-KR" altLang="en-US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e>
                        <m:r>
                          <a:rPr lang="ko-KR" altLang="en-US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ko-KR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ko-KR" altLang="en-US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ko-KR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ko-KR" altLang="ko-KR" dirty="0"/>
                  <a:t>,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ko-KR" altLang="en-US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e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e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lang="en-US" altLang="ko-KR" dirty="0"/>
                  <a:t> </a:t>
                </a:r>
                <a:r>
                  <a:rPr lang="ko-KR" altLang="ko-KR" dirty="0" err="1"/>
                  <a:t>grid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search</a:t>
                </a:r>
                <a:endParaRPr lang="en-US" altLang="ko-KR" dirty="0"/>
              </a:p>
              <a:p>
                <a:pPr marL="584200" lvl="1" indent="-107950">
                  <a:spcBef>
                    <a:spcPts val="0"/>
                  </a:spcBef>
                </a:pPr>
                <a:endParaRPr dirty="0"/>
              </a:p>
            </p:txBody>
          </p:sp>
        </mc:Choice>
        <mc:Fallback xmlns="">
          <p:sp>
            <p:nvSpPr>
              <p:cNvPr id="471" name="Google Shape;471;g3f63937a9f2_0_23">
                <a:extLst>
                  <a:ext uri="{FF2B5EF4-FFF2-40B4-BE49-F238E27FC236}">
                    <a16:creationId xmlns:a16="http://schemas.microsoft.com/office/drawing/2014/main" id="{C8E0A742-B381-534F-092A-5E4020A68FEE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71475" y="970022"/>
                <a:ext cx="8580000" cy="4059177"/>
              </a:xfrm>
              <a:prstGeom prst="rect">
                <a:avLst/>
              </a:prstGeom>
              <a:blipFill>
                <a:blip r:embed="rId3"/>
                <a:stretch>
                  <a:fillRect l="-1036" t="-1875" r="-192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2" name="Google Shape;472;g3f63937a9f2_0_23">
            <a:extLst>
              <a:ext uri="{FF2B5EF4-FFF2-40B4-BE49-F238E27FC236}">
                <a16:creationId xmlns:a16="http://schemas.microsoft.com/office/drawing/2014/main" id="{F6F499F0-6435-20C2-8D1A-5F42051095F4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70642" y="640457"/>
            <a:ext cx="8391300" cy="2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>
              <a:spcBef>
                <a:spcPts val="0"/>
              </a:spcBef>
            </a:pPr>
            <a:r>
              <a:rPr lang="ko-KR" altLang="ko-KR" dirty="0" err="1"/>
              <a:t>CalibQuant</a:t>
            </a:r>
            <a:r>
              <a:rPr lang="ko-KR" altLang="ko-KR" dirty="0"/>
              <a:t>: 1-Bit KV </a:t>
            </a:r>
            <a:r>
              <a:rPr lang="ko-KR" altLang="ko-KR" dirty="0" err="1"/>
              <a:t>Cache</a:t>
            </a:r>
            <a:r>
              <a:rPr lang="ko-KR" altLang="ko-KR" dirty="0"/>
              <a:t> </a:t>
            </a:r>
            <a:r>
              <a:rPr lang="ko-KR" altLang="ko-KR" dirty="0" err="1"/>
              <a:t>Quantization</a:t>
            </a:r>
            <a:r>
              <a:rPr lang="ko-KR" altLang="ko-KR" dirty="0"/>
              <a:t> </a:t>
            </a:r>
            <a:r>
              <a:rPr lang="ko-KR" altLang="ko-KR" dirty="0" err="1"/>
              <a:t>for</a:t>
            </a:r>
            <a:r>
              <a:rPr lang="ko-KR" altLang="ko-KR" dirty="0"/>
              <a:t> </a:t>
            </a:r>
            <a:r>
              <a:rPr lang="ko-KR" altLang="ko-KR" dirty="0" err="1"/>
              <a:t>Multimodal</a:t>
            </a:r>
            <a:r>
              <a:rPr lang="ko-KR" altLang="ko-KR" dirty="0"/>
              <a:t> </a:t>
            </a:r>
            <a:r>
              <a:rPr lang="ko-KR" altLang="ko-KR" dirty="0" err="1"/>
              <a:t>LLMs</a:t>
            </a:r>
            <a:r>
              <a:rPr lang="ko-KR" altLang="ko-KR" dirty="0"/>
              <a:t> 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4F51F88-8C23-F574-B315-B903C9E6D6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6571" y="3050152"/>
            <a:ext cx="9578845" cy="158419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65B0893-1CA8-8ADD-2470-AD1440D24B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2664" y="414539"/>
            <a:ext cx="2878811" cy="1022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9403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f63937a9f2_0_23"/>
          <p:cNvSpPr txBox="1">
            <a:spLocks noGrp="1"/>
          </p:cNvSpPr>
          <p:nvPr>
            <p:ph type="title"/>
          </p:nvPr>
        </p:nvSpPr>
        <p:spPr>
          <a:xfrm>
            <a:off x="371475" y="301687"/>
            <a:ext cx="83904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None/>
            </a:pPr>
            <a:r>
              <a:rPr lang="ko" dirty="0"/>
              <a:t>VidKV</a:t>
            </a:r>
            <a:endParaRPr dirty="0"/>
          </a:p>
        </p:txBody>
      </p:sp>
      <p:sp>
        <p:nvSpPr>
          <p:cNvPr id="471" name="Google Shape;471;g3f63937a9f2_0_23"/>
          <p:cNvSpPr txBox="1">
            <a:spLocks noGrp="1"/>
          </p:cNvSpPr>
          <p:nvPr>
            <p:ph type="body" idx="1"/>
          </p:nvPr>
        </p:nvSpPr>
        <p:spPr>
          <a:xfrm>
            <a:off x="371475" y="970023"/>
            <a:ext cx="8580000" cy="3976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 indent="-107950">
              <a:spcBef>
                <a:spcPts val="0"/>
              </a:spcBef>
            </a:pPr>
            <a:r>
              <a:rPr lang="ko-KR" altLang="ko-KR" dirty="0" err="1"/>
              <a:t>separate</a:t>
            </a:r>
            <a:r>
              <a:rPr lang="ko-KR" altLang="ko-KR" dirty="0"/>
              <a:t> </a:t>
            </a:r>
            <a:r>
              <a:rPr lang="ko-KR" altLang="ko-KR" dirty="0" err="1"/>
              <a:t>bit</a:t>
            </a:r>
            <a:r>
              <a:rPr lang="ko-KR" altLang="ko-KR" dirty="0"/>
              <a:t> </a:t>
            </a:r>
            <a:r>
              <a:rPr lang="ko-KR" altLang="ko-KR" dirty="0" err="1"/>
              <a:t>budgets</a:t>
            </a:r>
            <a:r>
              <a:rPr lang="ko-KR" altLang="ko-KR" dirty="0"/>
              <a:t> </a:t>
            </a:r>
            <a:r>
              <a:rPr lang="ko-KR" altLang="ko-KR" dirty="0" err="1"/>
              <a:t>for</a:t>
            </a:r>
            <a:r>
              <a:rPr lang="ko-KR" altLang="ko-KR" dirty="0"/>
              <a:t> </a:t>
            </a:r>
            <a:r>
              <a:rPr lang="ko-KR" altLang="ko-KR" dirty="0" err="1"/>
              <a:t>keys</a:t>
            </a:r>
            <a:r>
              <a:rPr lang="ko-KR" altLang="ko-KR" dirty="0"/>
              <a:t> and </a:t>
            </a:r>
            <a:r>
              <a:rPr lang="ko-KR" altLang="ko-KR" dirty="0" err="1"/>
              <a:t>values</a:t>
            </a:r>
            <a:r>
              <a:rPr lang="ko-KR" altLang="ko-KR" dirty="0"/>
              <a:t> </a:t>
            </a:r>
            <a:r>
              <a:rPr lang="ko-KR" altLang="ko-KR" dirty="0" err="1"/>
              <a:t>in</a:t>
            </a:r>
            <a:r>
              <a:rPr lang="ko-KR" altLang="ko-KR" dirty="0"/>
              <a:t> </a:t>
            </a:r>
            <a:r>
              <a:rPr lang="ko-KR" altLang="ko-KR" dirty="0" err="1"/>
              <a:t>video</a:t>
            </a:r>
            <a:r>
              <a:rPr lang="ko-KR" altLang="ko-KR" dirty="0"/>
              <a:t> </a:t>
            </a:r>
            <a:r>
              <a:rPr lang="ko-KR" altLang="ko-KR" dirty="0" err="1"/>
              <a:t>LLMs</a:t>
            </a:r>
            <a:r>
              <a:rPr lang="ko-KR" altLang="ko-KR" dirty="0"/>
              <a:t>, </a:t>
            </a:r>
            <a:r>
              <a:rPr lang="ko-KR" altLang="ko-KR" dirty="0" err="1"/>
              <a:t>importance-driven</a:t>
            </a:r>
            <a:r>
              <a:rPr lang="ko-KR" altLang="ko-KR" dirty="0"/>
              <a:t> </a:t>
            </a:r>
            <a:r>
              <a:rPr lang="ko-KR" altLang="ko-KR" dirty="0" err="1"/>
              <a:t>mixed</a:t>
            </a:r>
            <a:r>
              <a:rPr lang="ko-KR" altLang="ko-KR" dirty="0"/>
              <a:t> </a:t>
            </a:r>
            <a:r>
              <a:rPr lang="ko-KR" altLang="ko-KR" dirty="0" err="1"/>
              <a:t>precision</a:t>
            </a:r>
            <a:endParaRPr lang="en-US" altLang="ko-KR" dirty="0"/>
          </a:p>
          <a:p>
            <a:pPr marL="127000" lvl="0" indent="-107950">
              <a:spcBef>
                <a:spcPts val="0"/>
              </a:spcBef>
            </a:pPr>
            <a:r>
              <a:rPr lang="en-US" dirty="0"/>
              <a:t>Idea: </a:t>
            </a:r>
            <a:r>
              <a:rPr lang="en-US" b="1" dirty="0"/>
              <a:t>High redundancy of video tokens </a:t>
            </a:r>
            <a:r>
              <a:rPr lang="en-US" dirty="0"/>
              <a:t>-&gt; low-bit quantization</a:t>
            </a:r>
          </a:p>
          <a:p>
            <a:pPr marL="127000" lvl="0" indent="-107950">
              <a:spcBef>
                <a:spcPts val="0"/>
              </a:spcBef>
            </a:pPr>
            <a:r>
              <a:rPr lang="en-US" dirty="0"/>
              <a:t>Method: </a:t>
            </a:r>
          </a:p>
          <a:p>
            <a:pPr marL="584200" lvl="1" indent="-107950">
              <a:spcBef>
                <a:spcPts val="0"/>
              </a:spcBef>
            </a:pPr>
            <a:r>
              <a:rPr lang="en-US" altLang="ko" dirty="0"/>
              <a:t>Key: </a:t>
            </a:r>
            <a:r>
              <a:rPr lang="en-US" altLang="ko" b="1" dirty="0"/>
              <a:t>Mixed precision </a:t>
            </a:r>
            <a:r>
              <a:rPr lang="en-US" altLang="ko" dirty="0"/>
              <a:t>per channel(</a:t>
            </a:r>
            <a:r>
              <a:rPr lang="en-US" altLang="ko" b="1" dirty="0"/>
              <a:t>2-bit</a:t>
            </a:r>
            <a:r>
              <a:rPr lang="en-US" altLang="ko" dirty="0"/>
              <a:t>: anormal channel, </a:t>
            </a:r>
            <a:r>
              <a:rPr lang="en-US" altLang="ko" b="1" dirty="0"/>
              <a:t>1-bit</a:t>
            </a:r>
            <a:r>
              <a:rPr lang="en-US" altLang="ko" dirty="0"/>
              <a:t>: normal)</a:t>
            </a:r>
          </a:p>
          <a:p>
            <a:pPr marL="584200" lvl="1" indent="-107950">
              <a:spcBef>
                <a:spcPts val="0"/>
              </a:spcBef>
            </a:pPr>
            <a:r>
              <a:rPr lang="en-US" altLang="ko" dirty="0"/>
              <a:t>Value: </a:t>
            </a:r>
            <a:r>
              <a:rPr lang="en-US" altLang="ko" b="1" dirty="0"/>
              <a:t>1.58-bit</a:t>
            </a:r>
            <a:r>
              <a:rPr lang="en-US" altLang="ko" dirty="0"/>
              <a:t> quantization</a:t>
            </a:r>
            <a:r>
              <a:rPr lang="en-US" altLang="ko-KR" dirty="0"/>
              <a:t>(mapping {-1, 0, 1} based on a</a:t>
            </a:r>
            <a:r>
              <a:rPr lang="en-US" altLang="ko" dirty="0"/>
              <a:t> </a:t>
            </a:r>
            <a:r>
              <a:rPr lang="en-US" altLang="ko-KR" dirty="0"/>
              <a:t>&amp;</a:t>
            </a:r>
            <a:r>
              <a:rPr lang="en-US" altLang="ko" dirty="0"/>
              <a:t> selectively filtering semantically salient visual tokens</a:t>
            </a:r>
            <a:r>
              <a:rPr lang="en-US" altLang="ko-KR" dirty="0"/>
              <a:t>(import token – 2bit)</a:t>
            </a:r>
            <a:endParaRPr lang="en-US" altLang="ko" dirty="0"/>
          </a:p>
          <a:p>
            <a:pPr marL="1041400" lvl="2" indent="-107950">
              <a:spcBef>
                <a:spcPts val="0"/>
              </a:spcBef>
            </a:pPr>
            <a:r>
              <a:rPr lang="en-US" altLang="ko" dirty="0"/>
              <a:t>per-channel( &lt;-&gt; KIVI: per-token)</a:t>
            </a:r>
          </a:p>
          <a:p>
            <a:pPr marL="584200" lvl="1" indent="-107950">
              <a:spcBef>
                <a:spcPts val="0"/>
              </a:spcBef>
            </a:pPr>
            <a:endParaRPr dirty="0"/>
          </a:p>
        </p:txBody>
      </p:sp>
      <p:sp>
        <p:nvSpPr>
          <p:cNvPr id="472" name="Google Shape;472;g3f63937a9f2_0_23"/>
          <p:cNvSpPr txBox="1">
            <a:spLocks noGrp="1"/>
          </p:cNvSpPr>
          <p:nvPr>
            <p:ph type="subTitle" idx="2"/>
          </p:nvPr>
        </p:nvSpPr>
        <p:spPr>
          <a:xfrm>
            <a:off x="370642" y="640457"/>
            <a:ext cx="8391300" cy="2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lang="ko"/>
              <a:t>PLUG-AND-PLAY 1.x-Bit KV CACHE QUANTIZATION FOR VIDEO LARGE LANGUAGE MODELS</a:t>
            </a:r>
            <a:endParaRPr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F328D18-F658-7CF6-0A2A-78B3604A4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08" y="2546123"/>
            <a:ext cx="9144000" cy="23999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f6967f0340_0_0"/>
          <p:cNvSpPr txBox="1">
            <a:spLocks noGrp="1"/>
          </p:cNvSpPr>
          <p:nvPr>
            <p:ph type="body" idx="1"/>
          </p:nvPr>
        </p:nvSpPr>
        <p:spPr>
          <a:xfrm>
            <a:off x="371475" y="970023"/>
            <a:ext cx="8580000" cy="3871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 indent="-1270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en-US" altLang="ko" sz="1400" b="1" dirty="0"/>
              <a:t>KV Cache Quantization </a:t>
            </a:r>
            <a:r>
              <a:rPr lang="ko" altLang="en-US" sz="1400" b="1" dirty="0"/>
              <a:t>자체는 </a:t>
            </a:r>
            <a:r>
              <a:rPr lang="en-US" altLang="ko" sz="1400" b="1" dirty="0" err="1"/>
              <a:t>llm</a:t>
            </a:r>
            <a:r>
              <a:rPr lang="ko" altLang="en-US" sz="1400" b="1" dirty="0"/>
              <a:t>에서 </a:t>
            </a:r>
            <a:r>
              <a:rPr lang="en-US" altLang="ko" sz="1400" b="1" dirty="0"/>
              <a:t>saturated </a:t>
            </a:r>
            <a:r>
              <a:rPr lang="ko" altLang="en-US" sz="1400" b="1" dirty="0"/>
              <a:t>거의 안 바뀜</a:t>
            </a:r>
            <a:r>
              <a:rPr lang="en-US" altLang="ko-KR" sz="1400" b="1" dirty="0"/>
              <a:t>.</a:t>
            </a:r>
            <a:endParaRPr lang="en-US" altLang="ko" sz="1400" b="1" dirty="0"/>
          </a:p>
          <a:p>
            <a:pPr marL="584200" lvl="1" indent="-127000">
              <a:lnSpc>
                <a:spcPct val="95000"/>
              </a:lnSpc>
              <a:spcBef>
                <a:spcPts val="0"/>
              </a:spcBef>
              <a:buSzPts val="1800"/>
            </a:pPr>
            <a:r>
              <a:rPr lang="ko" altLang="en-US" b="1" dirty="0"/>
              <a:t>아키텍쳐에서 해결</a:t>
            </a:r>
            <a:endParaRPr lang="en-US" altLang="ko" b="1" dirty="0"/>
          </a:p>
          <a:p>
            <a:pPr marL="1041400" lvl="2" indent="-127000">
              <a:lnSpc>
                <a:spcPct val="95000"/>
              </a:lnSpc>
              <a:spcBef>
                <a:spcPts val="0"/>
              </a:spcBef>
              <a:buSzPts val="1800"/>
            </a:pPr>
            <a:r>
              <a:rPr lang="en-US" altLang="ko" b="1" dirty="0"/>
              <a:t>MHA(multi-head-attention) -&gt; KV Cache  DeepSeek-V2</a:t>
            </a:r>
          </a:p>
          <a:p>
            <a:pPr marL="584200" lvl="1" indent="-127000">
              <a:lnSpc>
                <a:spcPct val="95000"/>
              </a:lnSpc>
              <a:spcBef>
                <a:spcPts val="0"/>
              </a:spcBef>
              <a:buSzPts val="1800"/>
            </a:pPr>
            <a:r>
              <a:rPr lang="en-US" altLang="ko" b="1" dirty="0"/>
              <a:t>LLM</a:t>
            </a:r>
            <a:r>
              <a:rPr lang="ko" altLang="en-US" b="1" dirty="0"/>
              <a:t>에서 </a:t>
            </a:r>
            <a:r>
              <a:rPr lang="en-US" altLang="ko" b="1" dirty="0"/>
              <a:t>KIVI </a:t>
            </a:r>
            <a:r>
              <a:rPr lang="ko" altLang="en-US" b="1" dirty="0"/>
              <a:t>구조를 크게 벗어나지 않음</a:t>
            </a:r>
            <a:r>
              <a:rPr lang="en-US" altLang="ko-KR" b="1" dirty="0"/>
              <a:t>. (2024~)</a:t>
            </a:r>
          </a:p>
          <a:p>
            <a:pPr marL="1041400" lvl="2" indent="-127000">
              <a:lnSpc>
                <a:spcPct val="95000"/>
              </a:lnSpc>
              <a:spcBef>
                <a:spcPts val="0"/>
              </a:spcBef>
              <a:buSzPts val="1800"/>
            </a:pPr>
            <a:r>
              <a:rPr lang="en-US" altLang="ko-KR" b="1" dirty="0"/>
              <a:t>K, V</a:t>
            </a:r>
            <a:r>
              <a:rPr lang="ko-KR" altLang="en-US" b="1" dirty="0"/>
              <a:t>모두 </a:t>
            </a:r>
            <a:r>
              <a:rPr lang="en-US" altLang="ko-KR" b="1" dirty="0"/>
              <a:t>channel-wise</a:t>
            </a:r>
          </a:p>
          <a:p>
            <a:pPr marL="584200" lvl="1" indent="-127000">
              <a:lnSpc>
                <a:spcPct val="95000"/>
              </a:lnSpc>
              <a:spcBef>
                <a:spcPts val="0"/>
              </a:spcBef>
              <a:buSzPts val="1800"/>
            </a:pPr>
            <a:r>
              <a:rPr lang="en-US" altLang="ko-KR" b="1" dirty="0"/>
              <a:t>HW: NVFP4</a:t>
            </a:r>
          </a:p>
          <a:p>
            <a:pPr marL="584200" lvl="1" indent="-127000">
              <a:lnSpc>
                <a:spcPct val="95000"/>
              </a:lnSpc>
              <a:spcBef>
                <a:spcPts val="0"/>
              </a:spcBef>
              <a:buSzPts val="1800"/>
            </a:pPr>
            <a:endParaRPr lang="en-US" altLang="ko" b="1" dirty="0"/>
          </a:p>
          <a:p>
            <a:pPr marL="127000" indent="-127000">
              <a:spcBef>
                <a:spcPts val="0"/>
              </a:spcBef>
              <a:buSzPts val="1800"/>
            </a:pPr>
            <a:r>
              <a:rPr lang="en-US" altLang="ko" sz="1400" b="1" dirty="0"/>
              <a:t>Multimodal or Edge</a:t>
            </a:r>
            <a:r>
              <a:rPr lang="ko" altLang="en-US" sz="1400" b="1" dirty="0"/>
              <a:t>에 집중</a:t>
            </a:r>
            <a:r>
              <a:rPr lang="en-US" altLang="ko-KR" sz="1400" b="1" dirty="0"/>
              <a:t>…</a:t>
            </a:r>
          </a:p>
          <a:p>
            <a:pPr marL="127000" indent="-127000">
              <a:spcBef>
                <a:spcPts val="0"/>
              </a:spcBef>
              <a:buSzPts val="1800"/>
            </a:pPr>
            <a:endParaRPr lang="en-US" altLang="ko-KR" sz="1400" b="1" dirty="0"/>
          </a:p>
          <a:p>
            <a:pPr marL="0" indent="0">
              <a:spcBef>
                <a:spcPts val="0"/>
              </a:spcBef>
              <a:buSzPts val="1800"/>
              <a:buNone/>
            </a:pPr>
            <a:r>
              <a:rPr lang="en-US" altLang="ko" sz="1400" b="1" dirty="0"/>
              <a:t>---</a:t>
            </a:r>
          </a:p>
          <a:p>
            <a:pPr marL="0" indent="0">
              <a:spcBef>
                <a:spcPts val="0"/>
              </a:spcBef>
              <a:buSzPts val="1800"/>
              <a:buNone/>
            </a:pPr>
            <a:endParaRPr lang="en-US" altLang="ko" sz="1400" b="1" dirty="0"/>
          </a:p>
          <a:p>
            <a:pPr marL="127000" lvl="0" indent="-1270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ko" sz="1400" b="1" dirty="0"/>
              <a:t>Track 1: </a:t>
            </a:r>
            <a:r>
              <a:rPr lang="en-US" altLang="ko" sz="1400" b="1" dirty="0"/>
              <a:t>???-aware</a:t>
            </a:r>
            <a:r>
              <a:rPr lang="ko" altLang="en-US" sz="1400" b="1" dirty="0"/>
              <a:t> </a:t>
            </a:r>
            <a:r>
              <a:rPr lang="en-US" altLang="ko" sz="1400" b="1" dirty="0"/>
              <a:t>quantization</a:t>
            </a:r>
            <a:r>
              <a:rPr lang="en-US" altLang="ko-KR" sz="1400" b="1" dirty="0"/>
              <a:t>(e.g. modality-aware quantization, video</a:t>
            </a:r>
            <a:r>
              <a:rPr lang="ko-KR" altLang="en-US" sz="1400" b="1" dirty="0"/>
              <a:t>내 </a:t>
            </a:r>
            <a:r>
              <a:rPr lang="en-US" altLang="ko-KR" sz="1400" b="1" dirty="0"/>
              <a:t>distribution/statistical patterns</a:t>
            </a:r>
            <a:r>
              <a:rPr lang="ko-KR" altLang="en-US" sz="1400" b="1" dirty="0"/>
              <a:t> 고려</a:t>
            </a:r>
            <a:r>
              <a:rPr lang="en-US" altLang="ko-KR" sz="1400" b="1" dirty="0"/>
              <a:t>) -&gt; granularity </a:t>
            </a:r>
            <a:r>
              <a:rPr lang="ko-KR" altLang="en-US" sz="1400" b="1" dirty="0"/>
              <a:t>다양하게</a:t>
            </a:r>
            <a:r>
              <a:rPr lang="en-US" altLang="ko-KR" sz="1400" b="1" dirty="0"/>
              <a:t>, saliency</a:t>
            </a:r>
            <a:r>
              <a:rPr lang="ko-KR" altLang="en-US" sz="1400" b="1" dirty="0"/>
              <a:t>가 다양하게 가능</a:t>
            </a:r>
            <a:r>
              <a:rPr lang="en-US" altLang="ko-KR" sz="1400" b="1" dirty="0"/>
              <a:t>.  </a:t>
            </a:r>
            <a:endParaRPr lang="en-US" altLang="ko" sz="1400" b="1" dirty="0"/>
          </a:p>
          <a:p>
            <a:pPr marL="584200" lvl="1" indent="-127000">
              <a:lnSpc>
                <a:spcPct val="95000"/>
              </a:lnSpc>
              <a:spcBef>
                <a:spcPts val="0"/>
              </a:spcBef>
              <a:buSzPts val="1800"/>
            </a:pPr>
            <a:r>
              <a:rPr lang="en-US" altLang="ko" b="1" dirty="0" err="1"/>
              <a:t>VidKV</a:t>
            </a:r>
            <a:r>
              <a:rPr lang="en-US" altLang="ko" b="1" dirty="0"/>
              <a:t>: Text, Image</a:t>
            </a:r>
          </a:p>
          <a:p>
            <a:pPr marL="584200" lvl="1" indent="-127000">
              <a:lnSpc>
                <a:spcPct val="95000"/>
              </a:lnSpc>
              <a:spcBef>
                <a:spcPts val="0"/>
              </a:spcBef>
              <a:buSzPts val="1800"/>
            </a:pPr>
            <a:r>
              <a:rPr lang="en-US" altLang="ko" b="1" dirty="0"/>
              <a:t>KIVI: K, V </a:t>
            </a:r>
            <a:r>
              <a:rPr lang="ko" altLang="en-US" b="1" dirty="0"/>
              <a:t>다른 </a:t>
            </a:r>
            <a:r>
              <a:rPr lang="en-US" altLang="ko" b="1" dirty="0"/>
              <a:t>granularity</a:t>
            </a:r>
            <a:r>
              <a:rPr lang="ko" altLang="en-US" b="1" dirty="0"/>
              <a:t>로 </a:t>
            </a:r>
            <a:r>
              <a:rPr lang="en-US" altLang="ko" b="1" dirty="0"/>
              <a:t>quantize</a:t>
            </a:r>
          </a:p>
          <a:p>
            <a:pPr marL="584200" lvl="1" indent="-127000">
              <a:lnSpc>
                <a:spcPct val="95000"/>
              </a:lnSpc>
              <a:spcBef>
                <a:spcPts val="0"/>
              </a:spcBef>
              <a:buSzPts val="1800"/>
            </a:pPr>
            <a:r>
              <a:rPr lang="ko" altLang="en-US" b="1" dirty="0"/>
              <a:t>각 분포 </a:t>
            </a:r>
            <a:r>
              <a:rPr lang="en-US" altLang="ko" b="1" dirty="0"/>
              <a:t>visualization -&gt; modality aware quantization</a:t>
            </a:r>
            <a:endParaRPr lang="en-US" altLang="ko" sz="1100" b="1" dirty="0"/>
          </a:p>
          <a:p>
            <a:pPr marL="1041400" lvl="2" indent="-127000">
              <a:lnSpc>
                <a:spcPct val="95000"/>
              </a:lnSpc>
              <a:spcBef>
                <a:spcPts val="0"/>
              </a:spcBef>
              <a:buSzPts val="1800"/>
            </a:pPr>
            <a:r>
              <a:rPr lang="en-US" altLang="ko" b="1" dirty="0"/>
              <a:t>KIVI</a:t>
            </a:r>
            <a:r>
              <a:rPr lang="ko" altLang="en-US" b="1" dirty="0"/>
              <a:t>가 </a:t>
            </a:r>
            <a:r>
              <a:rPr lang="en-US" altLang="ko" b="1" dirty="0"/>
              <a:t>K, V element distribution </a:t>
            </a:r>
            <a:r>
              <a:rPr lang="ko" altLang="en-US" b="1" dirty="0"/>
              <a:t>조사한 것처럼</a:t>
            </a:r>
            <a:r>
              <a:rPr lang="en-US" altLang="ko-KR" b="1" dirty="0"/>
              <a:t>…</a:t>
            </a:r>
          </a:p>
          <a:p>
            <a:pPr marL="1041400" lvl="2" indent="-127000">
              <a:lnSpc>
                <a:spcPct val="95000"/>
              </a:lnSpc>
              <a:spcBef>
                <a:spcPts val="0"/>
              </a:spcBef>
              <a:buSzPts val="1800"/>
            </a:pPr>
            <a:endParaRPr lang="en-US" altLang="ko" b="1" dirty="0"/>
          </a:p>
          <a:p>
            <a:pPr marL="127000" indent="-127000">
              <a:spcBef>
                <a:spcPts val="0"/>
              </a:spcBef>
              <a:buSzPts val="1800"/>
            </a:pPr>
            <a:r>
              <a:rPr lang="en" altLang="ko" sz="1400" b="1" dirty="0"/>
              <a:t>Track 2: </a:t>
            </a:r>
            <a:r>
              <a:rPr lang="ko-KR" altLang="en-US" sz="1400" b="1" dirty="0"/>
              <a:t>대부분의 연구에서 </a:t>
            </a:r>
            <a:r>
              <a:rPr lang="en-US" altLang="ko-KR" sz="1400" b="1" dirty="0"/>
              <a:t>kernel, channel-wise</a:t>
            </a:r>
          </a:p>
          <a:p>
            <a:pPr marL="0" indent="0">
              <a:spcBef>
                <a:spcPts val="0"/>
              </a:spcBef>
              <a:buSzPts val="1800"/>
              <a:buNone/>
            </a:pPr>
            <a:r>
              <a:rPr lang="en-US" sz="1400" b="1" dirty="0"/>
              <a:t>	Granularity를 </a:t>
            </a:r>
            <a:r>
              <a:rPr lang="en-US" sz="1400" b="1" dirty="0" err="1"/>
              <a:t>다르게</a:t>
            </a:r>
            <a:r>
              <a:rPr lang="en-US" sz="1400" b="1" dirty="0"/>
              <a:t> </a:t>
            </a:r>
            <a:r>
              <a:rPr lang="en-US" sz="1400" b="1" dirty="0" err="1"/>
              <a:t>하거나</a:t>
            </a:r>
            <a:r>
              <a:rPr lang="en-US" altLang="ko-KR" sz="1400" b="1" dirty="0"/>
              <a:t>, salient channel</a:t>
            </a:r>
            <a:r>
              <a:rPr lang="ko-KR" altLang="en-US" sz="1400" b="1" dirty="0"/>
              <a:t>을 다르게 하고 싶으면 </a:t>
            </a:r>
            <a:r>
              <a:rPr lang="en-US" altLang="ko-KR" sz="1400" b="1" dirty="0"/>
              <a:t>kernel </a:t>
            </a:r>
            <a:r>
              <a:rPr lang="ko-KR" altLang="en-US" sz="1400" b="1" dirty="0"/>
              <a:t>공부 필요</a:t>
            </a:r>
            <a:r>
              <a:rPr lang="en-US" altLang="ko-KR" sz="1400" b="1" dirty="0"/>
              <a:t>.</a:t>
            </a:r>
            <a:endParaRPr sz="1400" b="1" dirty="0"/>
          </a:p>
        </p:txBody>
      </p:sp>
      <p:sp>
        <p:nvSpPr>
          <p:cNvPr id="479" name="Google Shape;479;g3f6967f0340_0_0"/>
          <p:cNvSpPr txBox="1">
            <a:spLocks noGrp="1"/>
          </p:cNvSpPr>
          <p:nvPr>
            <p:ph type="title"/>
          </p:nvPr>
        </p:nvSpPr>
        <p:spPr>
          <a:xfrm>
            <a:off x="371475" y="301687"/>
            <a:ext cx="83904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None/>
            </a:pPr>
            <a:r>
              <a:rPr lang="en-US" altLang="ko" dirty="0"/>
              <a:t>Discussion</a:t>
            </a:r>
            <a:endParaRPr dirty="0"/>
          </a:p>
        </p:txBody>
      </p:sp>
      <p:sp>
        <p:nvSpPr>
          <p:cNvPr id="480" name="Google Shape;480;g3f6967f0340_0_0"/>
          <p:cNvSpPr txBox="1">
            <a:spLocks noGrp="1"/>
          </p:cNvSpPr>
          <p:nvPr>
            <p:ph type="subTitle" idx="2"/>
          </p:nvPr>
        </p:nvSpPr>
        <p:spPr>
          <a:xfrm>
            <a:off x="370642" y="640457"/>
            <a:ext cx="8391300" cy="2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lang="en-US" altLang="ko" dirty="0"/>
              <a:t>Plan</a:t>
            </a:r>
            <a:endParaRPr dirty="0"/>
          </a:p>
        </p:txBody>
      </p:sp>
      <p:sp>
        <p:nvSpPr>
          <p:cNvPr id="481" name="Google Shape;481;g3f6967f0340_0_0"/>
          <p:cNvSpPr txBox="1"/>
          <p:nvPr/>
        </p:nvSpPr>
        <p:spPr>
          <a:xfrm>
            <a:off x="11150" y="4924600"/>
            <a:ext cx="8580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82EA432-0D80-8254-8E53-46E72D0EA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2031" y="1049482"/>
            <a:ext cx="3672398" cy="198721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0C3620F-7363-6CC2-F6B8-A0A0DA8EE7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353" y="3371874"/>
            <a:ext cx="4052029" cy="72214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"/>
          <p:cNvSpPr txBox="1">
            <a:spLocks noGrp="1"/>
          </p:cNvSpPr>
          <p:nvPr>
            <p:ph type="ftr" idx="11"/>
          </p:nvPr>
        </p:nvSpPr>
        <p:spPr>
          <a:xfrm>
            <a:off x="371475" y="4899671"/>
            <a:ext cx="4457700" cy="88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endParaRPr/>
          </a:p>
        </p:txBody>
      </p:sp>
      <p:sp>
        <p:nvSpPr>
          <p:cNvPr id="488" name="Google Shape;488;p5"/>
          <p:cNvSpPr txBox="1">
            <a:spLocks noGrp="1"/>
          </p:cNvSpPr>
          <p:nvPr>
            <p:ph type="body" idx="1"/>
          </p:nvPr>
        </p:nvSpPr>
        <p:spPr>
          <a:xfrm>
            <a:off x="378591" y="2087687"/>
            <a:ext cx="8344785" cy="601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None/>
            </a:pPr>
            <a:r>
              <a:rPr lang="ko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mil_template">
  <a:themeElements>
    <a:clrScheme name="Qualcomm 2022">
      <a:dk1>
        <a:srgbClr val="13161E"/>
      </a:dk1>
      <a:lt1>
        <a:srgbClr val="F7F8FA"/>
      </a:lt1>
      <a:dk2>
        <a:srgbClr val="0B2742"/>
      </a:dk2>
      <a:lt2>
        <a:srgbClr val="E71324"/>
      </a:lt2>
      <a:accent1>
        <a:srgbClr val="2853DC"/>
      </a:accent1>
      <a:accent2>
        <a:srgbClr val="7BA0FF"/>
      </a:accent2>
      <a:accent3>
        <a:srgbClr val="39A3B5"/>
      </a:accent3>
      <a:accent4>
        <a:srgbClr val="82CBD7"/>
      </a:accent4>
      <a:accent5>
        <a:srgbClr val="4A5A75"/>
      </a:accent5>
      <a:accent6>
        <a:srgbClr val="ACBACF"/>
      </a:accent6>
      <a:hlink>
        <a:srgbClr val="3253DC"/>
      </a:hlink>
      <a:folHlink>
        <a:srgbClr val="7BA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E9CE738-79F8-E54A-9BEA-DB1039A9789D}">
  <we:reference id="cba9fc06-6fc9-492e-9525-923870a3b909" version="2.0.0.0" store="EXCatalog" storeType="EXCatalog"/>
  <we:alternateReferences>
    <we:reference id="WA200010215" version="2.0.0.0" store="ko-KR" storeType="OMEX"/>
  </we:alternateReferences>
  <we:properties>
    <we:property name="bps.codex_control.document_id" value="&quot;48252263-21ff-4961-84a0-a11bbba7132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2428</TotalTime>
  <Words>1628</Words>
  <Application>Microsoft Macintosh PowerPoint</Application>
  <PresentationFormat>화면 슬라이드 쇼(16:9)</PresentationFormat>
  <Paragraphs>357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9" baseType="lpstr">
      <vt:lpstr>Malgun Gothic</vt:lpstr>
      <vt:lpstr>Helvetica Neue</vt:lpstr>
      <vt:lpstr>Arial</vt:lpstr>
      <vt:lpstr>Lato</vt:lpstr>
      <vt:lpstr>Consolas</vt:lpstr>
      <vt:lpstr>Cambria Math</vt:lpstr>
      <vt:lpstr>emil_template</vt:lpstr>
      <vt:lpstr>PowerPoint 프레젠테이션</vt:lpstr>
      <vt:lpstr>Last Week</vt:lpstr>
      <vt:lpstr>PowerPoint 프레젠테이션</vt:lpstr>
      <vt:lpstr>PowerPoint 프레젠테이션</vt:lpstr>
      <vt:lpstr>Quantization Fundamentals</vt:lpstr>
      <vt:lpstr>Post Training Quantization(PTQ)</vt:lpstr>
      <vt:lpstr>Cross-Linear Equalization (CLE)  </vt:lpstr>
      <vt:lpstr>SmoothQuant (W8A8) </vt:lpstr>
      <vt:lpstr>AWQ for Low-bit Weight-only Quantization </vt:lpstr>
      <vt:lpstr>QuaRot / SpinQuant </vt:lpstr>
      <vt:lpstr>Symmetric v.s. Asymmetric </vt:lpstr>
      <vt:lpstr>Granularity</vt:lpstr>
      <vt:lpstr>Range Setting </vt:lpstr>
      <vt:lpstr>Bias Correction  </vt:lpstr>
      <vt:lpstr>AdaRound </vt:lpstr>
      <vt:lpstr>Comparison </vt:lpstr>
      <vt:lpstr>PowerPoint 프레젠테이션</vt:lpstr>
      <vt:lpstr>KIVI</vt:lpstr>
      <vt:lpstr>CalibQuant</vt:lpstr>
      <vt:lpstr>VidKV</vt:lpstr>
      <vt:lpstr>Discussion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LEEDongWON</cp:lastModifiedBy>
  <cp:revision>174</cp:revision>
  <dcterms:modified xsi:type="dcterms:W3CDTF">2026-08-14T15:18:35Z</dcterms:modified>
</cp:coreProperties>
</file>